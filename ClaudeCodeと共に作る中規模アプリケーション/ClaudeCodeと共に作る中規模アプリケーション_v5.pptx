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3" r:id="rId12"/>
    <p:sldId id="274" r:id="rId13"/>
    <p:sldId id="275" r:id="rId14"/>
    <p:sldId id="276" r:id="rId15"/>
    <p:sldId id="277" r:id="rId16"/>
    <p:sldId id="262" r:id="rId17"/>
    <p:sldId id="257" r:id="rId18"/>
    <p:sldId id="258" r:id="rId19"/>
    <p:sldId id="259" r:id="rId20"/>
    <p:sldId id="260" r:id="rId21"/>
    <p:sldId id="261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8" d="100"/>
          <a:sy n="218" d="100"/>
        </p:scale>
        <p:origin x="192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953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DF325-2DA4-C5C6-AF93-A614F6795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A9FC6-903F-4766-91D0-99D111E7F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BF62C-BB91-F330-2118-32232A946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DD7AB-2466-9272-9E53-58070F6C5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63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BF61C-A0AF-6A26-F372-ECF05910F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9C425-A72B-056F-7844-769168AD9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B8E33-44E1-933E-535C-F50A45F3E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A4F33-DC0C-4CCD-2219-49EF2B80BB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25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97279"/>
            <a:ext cx="54864" cy="2990887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n w="9525">
                  <a:noFill/>
                </a:ln>
                <a:latin typeface="Meiryo" pitchFamily="34" charset="0"/>
                <a:ea typeface="Meiryo" pitchFamily="34" charset="-122"/>
                <a:cs typeface="Meiryo" pitchFamily="34" charset="-120"/>
              </a:rPr>
              <a:t>Claude Code と共に作る</a:t>
            </a:r>
            <a:endParaRPr lang="en-US" sz="3600" dirty="0">
              <a:ln w="9525">
                <a:noFill/>
              </a:ln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             </a:t>
            </a:r>
            <a:r>
              <a:rPr lang="en-US" sz="3600" b="1" dirty="0" err="1">
                <a:solidFill>
                  <a:schemeClr val="accent4">
                    <a:lumMod val="75000"/>
                  </a:scheme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中規模アプリケーション</a:t>
            </a:r>
            <a:endParaRPr lang="en-US" sz="3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9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</a:t>
            </a:r>
            <a:r>
              <a:rPr lang="en-US" sz="1800" dirty="0">
                <a:solidFill>
                  <a:srgbClr val="0070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ゴールの共有</a:t>
            </a:r>
            <a:endParaRPr lang="en-US" sz="18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C49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</a:t>
            </a:r>
            <a:r>
              <a:rPr lang="en-US" sz="1800" dirty="0">
                <a:solidFill>
                  <a:srgbClr val="0070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壁打ちでブレークダウン</a:t>
            </a:r>
            <a:endParaRPr lang="en-US" sz="18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C49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</a:t>
            </a:r>
            <a:r>
              <a:rPr lang="en-US" sz="1800" dirty="0">
                <a:solidFill>
                  <a:srgbClr val="0070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レビューとテストは過剰に</a:t>
            </a:r>
            <a:endParaRPr lang="en-US" sz="1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A93E6-B47D-8E64-FD71-A4A688CC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ADABC8-E05F-0F12-55D2-2D310EF43D3A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20B54B8-5113-48C7-B648-D4E2B68D117B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9C5B69-ED1B-EF5E-B309-DDD38995F0EF}"/>
              </a:ext>
            </a:extLst>
          </p:cNvPr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32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動機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8F4A1E5-8321-909A-2DDF-739DCEAB4ACB}"/>
              </a:ext>
            </a:extLst>
          </p:cNvPr>
          <p:cNvSpPr/>
          <p:nvPr/>
        </p:nvSpPr>
        <p:spPr>
          <a:xfrm>
            <a:off x="457200" y="1371599"/>
            <a:ext cx="8229600" cy="3392906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1EB254-FF2E-9075-7AC7-DA282498A23D}"/>
              </a:ext>
            </a:extLst>
          </p:cNvPr>
          <p:cNvSpPr/>
          <p:nvPr/>
        </p:nvSpPr>
        <p:spPr>
          <a:xfrm>
            <a:off x="685800" y="1541617"/>
            <a:ext cx="7772400" cy="278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ja-JP" altLang="en-US" b="1" dirty="0">
                <a:solidFill>
                  <a:schemeClr val="accent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「ならば、自分好みの</a:t>
            </a:r>
            <a:r>
              <a:rPr lang="en-US" altLang="ja-JP" b="1" dirty="0">
                <a:solidFill>
                  <a:schemeClr val="accent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Markdown </a:t>
            </a:r>
            <a:r>
              <a:rPr lang="ja-JP" altLang="en-US" b="1" dirty="0">
                <a:solidFill>
                  <a:schemeClr val="accent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管理ツールを作ってしまおう！」</a:t>
            </a:r>
            <a:endParaRPr lang="en-US" altLang="ja-JP" b="1" dirty="0">
              <a:solidFill>
                <a:schemeClr val="accent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sz="1300" dirty="0">
              <a:solidFill>
                <a:schemeClr val="bg1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r>
              <a:rPr lang="ja-JP" altLang="en-US" sz="1300" dirty="0">
                <a:solidFill>
                  <a:schemeClr val="bg1"/>
                </a:solidFill>
              </a:rPr>
              <a:t>・</a:t>
            </a:r>
            <a:r>
              <a:rPr lang="en-US" altLang="ja-JP" sz="1300" dirty="0">
                <a:solidFill>
                  <a:schemeClr val="bg1"/>
                </a:solidFill>
              </a:rPr>
              <a:t>Knowledge</a:t>
            </a:r>
            <a:r>
              <a:rPr lang="ja-JP" altLang="en-US" sz="1300" dirty="0">
                <a:solidFill>
                  <a:schemeClr val="bg1"/>
                </a:solidFill>
              </a:rPr>
              <a:t>で</a:t>
            </a:r>
            <a:r>
              <a:rPr lang="en-US" altLang="ja-JP" sz="1300" dirty="0">
                <a:solidFill>
                  <a:schemeClr val="bg1"/>
                </a:solidFill>
              </a:rPr>
              <a:t>Markdown</a:t>
            </a:r>
            <a:r>
              <a:rPr lang="ja-JP" altLang="en-US" sz="1300" dirty="0">
                <a:solidFill>
                  <a:schemeClr val="bg1"/>
                </a:solidFill>
              </a:rPr>
              <a:t>形式のテキストを管理</a:t>
            </a:r>
            <a:endParaRPr lang="en-US" altLang="ja-JP" sz="1300" dirty="0">
              <a:solidFill>
                <a:schemeClr val="bg1"/>
              </a:solidFill>
            </a:endParaRPr>
          </a:p>
          <a:p>
            <a:r>
              <a:rPr lang="ja-JP" altLang="en-US" sz="1300" dirty="0">
                <a:solidFill>
                  <a:schemeClr val="bg1"/>
                </a:solidFill>
              </a:rPr>
              <a:t>・色々不満も多い（記事を</a:t>
            </a:r>
            <a:r>
              <a:rPr lang="en-US" altLang="ja-JP" sz="1300" dirty="0">
                <a:solidFill>
                  <a:schemeClr val="bg1"/>
                </a:solidFill>
              </a:rPr>
              <a:t>markdown</a:t>
            </a:r>
            <a:r>
              <a:rPr lang="ja-JP" altLang="en-US" sz="1300" dirty="0">
                <a:solidFill>
                  <a:schemeClr val="bg1"/>
                </a:solidFill>
              </a:rPr>
              <a:t>でダウンロードできない、検索がイマイチなど）</a:t>
            </a:r>
            <a:endParaRPr lang="en-US" altLang="ja-JP" sz="1300" dirty="0">
              <a:solidFill>
                <a:schemeClr val="bg1"/>
              </a:solidFill>
            </a:endParaRPr>
          </a:p>
          <a:p>
            <a:r>
              <a:rPr lang="ja-JP" altLang="en-US" sz="1300" dirty="0">
                <a:solidFill>
                  <a:schemeClr val="bg1"/>
                </a:solidFill>
              </a:rPr>
              <a:t>・付け加えたい機能が多い </a:t>
            </a:r>
            <a:r>
              <a:rPr lang="en-US" altLang="ja-JP" sz="1300" dirty="0">
                <a:solidFill>
                  <a:schemeClr val="bg1"/>
                </a:solidFill>
              </a:rPr>
              <a:t>(MCP</a:t>
            </a:r>
            <a:r>
              <a:rPr lang="ja-JP" altLang="en-US" sz="1300" dirty="0">
                <a:solidFill>
                  <a:schemeClr val="bg1"/>
                </a:solidFill>
              </a:rPr>
              <a:t>対応とかしたい）</a:t>
            </a:r>
          </a:p>
          <a:p>
            <a:endParaRPr lang="en-US" altLang="ja-JP" sz="1300" dirty="0">
              <a:solidFill>
                <a:schemeClr val="bg1"/>
              </a:solidFill>
            </a:endParaRPr>
          </a:p>
          <a:p>
            <a:r>
              <a:rPr lang="en-US" altLang="ja-JP" sz="1300" dirty="0">
                <a:solidFill>
                  <a:schemeClr val="bg1"/>
                </a:solidFill>
              </a:rPr>
              <a:t>Knowledge</a:t>
            </a:r>
            <a:r>
              <a:rPr lang="ja-JP" altLang="en-US" sz="1300" dirty="0">
                <a:solidFill>
                  <a:schemeClr val="bg1"/>
                </a:solidFill>
              </a:rPr>
              <a:t>は</a:t>
            </a:r>
            <a:r>
              <a:rPr lang="en-US" altLang="ja-JP" sz="1300" dirty="0">
                <a:solidFill>
                  <a:schemeClr val="bg1"/>
                </a:solidFill>
              </a:rPr>
              <a:t>Java</a:t>
            </a:r>
            <a:r>
              <a:rPr lang="ja-JP" altLang="en-US" sz="1300" dirty="0">
                <a:solidFill>
                  <a:schemeClr val="bg1"/>
                </a:solidFill>
              </a:rPr>
              <a:t>で作成されており改造が難しい</a:t>
            </a:r>
          </a:p>
          <a:p>
            <a:endParaRPr lang="en-US" altLang="ja-JP" sz="1300" dirty="0">
              <a:solidFill>
                <a:schemeClr val="bg1"/>
              </a:solidFill>
            </a:endParaRPr>
          </a:p>
          <a:p>
            <a:r>
              <a:rPr lang="en-US" altLang="ja-JP" sz="1300" dirty="0">
                <a:solidFill>
                  <a:schemeClr val="bg1"/>
                </a:solidFill>
              </a:rPr>
              <a:t>    </a:t>
            </a:r>
            <a:r>
              <a:rPr lang="ja-JP" altLang="en-US" sz="1300" dirty="0">
                <a:solidFill>
                  <a:schemeClr val="bg1"/>
                </a:solidFill>
              </a:rPr>
              <a:t>⇒ であれば、</a:t>
            </a:r>
            <a:r>
              <a:rPr lang="en-US" altLang="ja-JP" sz="1300" dirty="0">
                <a:solidFill>
                  <a:schemeClr val="bg1"/>
                </a:solidFill>
              </a:rPr>
              <a:t>Claude Code</a:t>
            </a:r>
            <a:r>
              <a:rPr lang="ja-JP" altLang="en-US" sz="1300" dirty="0">
                <a:solidFill>
                  <a:schemeClr val="bg1"/>
                </a:solidFill>
              </a:rPr>
              <a:t>を使って 自分が好き勝手できる</a:t>
            </a:r>
            <a:r>
              <a:rPr lang="en-US" altLang="ja-JP" sz="1300" dirty="0">
                <a:solidFill>
                  <a:schemeClr val="bg1"/>
                </a:solidFill>
              </a:rPr>
              <a:t>Markdown</a:t>
            </a:r>
            <a:r>
              <a:rPr lang="ja-JP" altLang="en-US" sz="1300" dirty="0">
                <a:solidFill>
                  <a:schemeClr val="bg1"/>
                </a:solidFill>
              </a:rPr>
              <a:t>管理ツールを作ろう！</a:t>
            </a:r>
            <a:endParaRPr lang="en-US" altLang="ja-JP" sz="1300" dirty="0">
              <a:solidFill>
                <a:schemeClr val="bg1"/>
              </a:solidFill>
            </a:endParaRPr>
          </a:p>
          <a:p>
            <a:endParaRPr lang="en-US" altLang="ja-JP" sz="1300" dirty="0">
              <a:solidFill>
                <a:schemeClr val="bg1"/>
              </a:solidFill>
            </a:endParaRPr>
          </a:p>
          <a:p>
            <a:endParaRPr lang="en-US" altLang="ja-JP" sz="1300" dirty="0">
              <a:solidFill>
                <a:schemeClr val="bg1"/>
              </a:solidFill>
            </a:endParaRPr>
          </a:p>
          <a:p>
            <a:r>
              <a:rPr lang="ja-JP" altLang="en-US" b="1" dirty="0">
                <a:solidFill>
                  <a:schemeClr val="accent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⇒そして、約１週間程度で、割と使えそうなアプリが完成</a:t>
            </a:r>
            <a:endParaRPr lang="en-US" altLang="ja-JP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198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D8465-C31F-DBFB-6EC0-BC68F56B7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11AA3F-8171-1C77-8785-CAC7C523CD0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6DF77D6-E8CD-EC06-A997-66EEEC43464B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080C87-D8B8-9C28-787A-CC40AC91F600}"/>
              </a:ext>
            </a:extLst>
          </p:cNvPr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32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</a:rPr>
              <a:t>ステップ数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7B2D632-5E58-6B17-0B5F-361FDA5CA770}"/>
              </a:ext>
            </a:extLst>
          </p:cNvPr>
          <p:cNvSpPr/>
          <p:nvPr/>
        </p:nvSpPr>
        <p:spPr>
          <a:xfrm>
            <a:off x="457200" y="2318814"/>
            <a:ext cx="8229600" cy="2471942"/>
          </a:xfrm>
          <a:prstGeom prst="rect">
            <a:avLst/>
          </a:prstGeom>
          <a:solidFill>
            <a:schemeClr val="tx1"/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D626AFC8-6EA3-05B4-45D5-E5F608C7C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978662"/>
              </p:ext>
            </p:extLst>
          </p:nvPr>
        </p:nvGraphicFramePr>
        <p:xfrm>
          <a:off x="510680" y="2379527"/>
          <a:ext cx="8122639" cy="2361568"/>
        </p:xfrm>
        <a:graphic>
          <a:graphicData uri="http://schemas.openxmlformats.org/drawingml/2006/table">
            <a:tbl>
              <a:tblPr/>
              <a:tblGrid>
                <a:gridCol w="2694963">
                  <a:extLst>
                    <a:ext uri="{9D8B030D-6E8A-4147-A177-3AD203B41FA5}">
                      <a16:colId xmlns:a16="http://schemas.microsoft.com/office/drawing/2014/main" val="1009204582"/>
                    </a:ext>
                  </a:extLst>
                </a:gridCol>
                <a:gridCol w="1170264">
                  <a:extLst>
                    <a:ext uri="{9D8B030D-6E8A-4147-A177-3AD203B41FA5}">
                      <a16:colId xmlns:a16="http://schemas.microsoft.com/office/drawing/2014/main" val="4237610896"/>
                    </a:ext>
                  </a:extLst>
                </a:gridCol>
                <a:gridCol w="1245765">
                  <a:extLst>
                    <a:ext uri="{9D8B030D-6E8A-4147-A177-3AD203B41FA5}">
                      <a16:colId xmlns:a16="http://schemas.microsoft.com/office/drawing/2014/main" val="458821671"/>
                    </a:ext>
                  </a:extLst>
                </a:gridCol>
                <a:gridCol w="1476463">
                  <a:extLst>
                    <a:ext uri="{9D8B030D-6E8A-4147-A177-3AD203B41FA5}">
                      <a16:colId xmlns:a16="http://schemas.microsoft.com/office/drawing/2014/main" val="1577986203"/>
                    </a:ext>
                  </a:extLst>
                </a:gridCol>
                <a:gridCol w="662730">
                  <a:extLst>
                    <a:ext uri="{9D8B030D-6E8A-4147-A177-3AD203B41FA5}">
                      <a16:colId xmlns:a16="http://schemas.microsoft.com/office/drawing/2014/main" val="744789609"/>
                    </a:ext>
                  </a:extLst>
                </a:gridCol>
                <a:gridCol w="872454">
                  <a:extLst>
                    <a:ext uri="{9D8B030D-6E8A-4147-A177-3AD203B41FA5}">
                      <a16:colId xmlns:a16="http://schemas.microsoft.com/office/drawing/2014/main" val="171709059"/>
                    </a:ext>
                  </a:extLst>
                </a:gridCol>
              </a:tblGrid>
              <a:tr h="1436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effectLst/>
                        </a:rPr>
                        <a:t>カテゴリ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effectLst/>
                        </a:rPr>
                        <a:t>ファイル数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effectLst/>
                        </a:rPr>
                        <a:t>総ステップ数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effectLst/>
                        </a:rPr>
                        <a:t>有効ステップ数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effectLst/>
                        </a:rPr>
                        <a:t>空行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effectLst/>
                        </a:rPr>
                        <a:t>コメント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828049"/>
                  </a:ext>
                </a:extLst>
              </a:tr>
              <a:tr h="203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Backend </a:t>
                      </a:r>
                      <a:r>
                        <a:rPr lang="ja-JP" altLang="en-US" sz="1400" b="1">
                          <a:effectLst/>
                        </a:rPr>
                        <a:t>本体</a:t>
                      </a:r>
                      <a:r>
                        <a:rPr lang="ja-JP" altLang="en-US" sz="1400">
                          <a:effectLst/>
                        </a:rPr>
                        <a:t> </a:t>
                      </a:r>
                      <a:r>
                        <a:rPr lang="en-US" altLang="ja-JP" sz="1400">
                          <a:effectLst/>
                        </a:rPr>
                        <a:t>(</a:t>
                      </a:r>
                      <a:r>
                        <a:rPr lang="en-US" sz="1400">
                          <a:effectLst/>
                        </a:rPr>
                        <a:t>app/)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92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14,843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 b="1">
                          <a:effectLst/>
                        </a:rPr>
                        <a:t>10,281</a:t>
                      </a:r>
                      <a:endParaRPr lang="ja-JP" altLang="en-US" sz="1400">
                        <a:effectLst/>
                      </a:endParaRP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2,578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1,984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189220"/>
                  </a:ext>
                </a:extLst>
              </a:tr>
              <a:tr h="203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Backend </a:t>
                      </a:r>
                      <a:r>
                        <a:rPr lang="ja-JP" altLang="en-US" sz="1400" b="1">
                          <a:effectLst/>
                        </a:rPr>
                        <a:t>テスト</a:t>
                      </a:r>
                      <a:r>
                        <a:rPr lang="ja-JP" altLang="en-US" sz="1400">
                          <a:effectLst/>
                        </a:rPr>
                        <a:t> </a:t>
                      </a:r>
                      <a:r>
                        <a:rPr lang="en-US" altLang="ja-JP" sz="1400">
                          <a:effectLst/>
                        </a:rPr>
                        <a:t>(</a:t>
                      </a:r>
                      <a:r>
                        <a:rPr lang="en-US" sz="1400">
                          <a:effectLst/>
                        </a:rPr>
                        <a:t>tests/)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72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23,772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 b="1">
                          <a:effectLst/>
                        </a:rPr>
                        <a:t>17,212</a:t>
                      </a:r>
                      <a:endParaRPr lang="ja-JP" altLang="en-US" sz="1400">
                        <a:effectLst/>
                      </a:endParaRP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4,109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2,451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821693"/>
                  </a:ext>
                </a:extLst>
              </a:tr>
              <a:tr h="143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</a:rPr>
                        <a:t>Frontend </a:t>
                      </a:r>
                      <a:r>
                        <a:rPr lang="ja-JP" altLang="en-US" sz="1400" b="1" dirty="0">
                          <a:effectLst/>
                        </a:rPr>
                        <a:t>本体</a:t>
                      </a:r>
                      <a:r>
                        <a:rPr lang="ja-JP" altLang="en-US" sz="1400" dirty="0">
                          <a:effectLst/>
                        </a:rPr>
                        <a:t> </a:t>
                      </a:r>
                      <a:r>
                        <a:rPr lang="en-US" altLang="ja-JP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src</a:t>
                      </a:r>
                      <a:r>
                        <a:rPr lang="en-US" sz="1400" dirty="0">
                          <a:effectLst/>
                        </a:rPr>
                        <a:t>/)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101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11,483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 b="1">
                          <a:effectLst/>
                        </a:rPr>
                        <a:t>9,865</a:t>
                      </a:r>
                      <a:endParaRPr lang="ja-JP" altLang="en-US" sz="1400">
                        <a:effectLst/>
                      </a:endParaRP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966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652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988118"/>
                  </a:ext>
                </a:extLst>
              </a:tr>
              <a:tr h="262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Frontend </a:t>
                      </a:r>
                      <a:r>
                        <a:rPr lang="ja-JP" altLang="en-US" sz="1400" b="1">
                          <a:effectLst/>
                        </a:rPr>
                        <a:t>テスト</a:t>
                      </a:r>
                      <a:r>
                        <a:rPr lang="ja-JP" altLang="en-US" sz="1400">
                          <a:effectLst/>
                        </a:rPr>
                        <a:t> </a:t>
                      </a:r>
                      <a:r>
                        <a:rPr lang="en-US" altLang="ja-JP" sz="1400">
                          <a:effectLst/>
                        </a:rPr>
                        <a:t>(</a:t>
                      </a:r>
                      <a:r>
                        <a:rPr lang="en-US" sz="1400">
                          <a:effectLst/>
                        </a:rPr>
                        <a:t>test/e2e)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54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5,982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 b="1">
                          <a:effectLst/>
                        </a:rPr>
                        <a:t>4,611</a:t>
                      </a:r>
                      <a:endParaRPr lang="ja-JP" altLang="en-US" sz="1400">
                        <a:effectLst/>
                      </a:endParaRP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918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453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52939"/>
                  </a:ext>
                </a:extLst>
              </a:tr>
              <a:tr h="262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 b="1">
                          <a:effectLst/>
                        </a:rPr>
                        <a:t>生成ファイル</a:t>
                      </a:r>
                      <a:r>
                        <a:rPr lang="ja-JP" altLang="en-US" sz="1400">
                          <a:effectLst/>
                        </a:rPr>
                        <a:t> </a:t>
                      </a:r>
                      <a:r>
                        <a:rPr lang="en-US" altLang="ja-JP" sz="1400">
                          <a:effectLst/>
                        </a:rPr>
                        <a:t>(</a:t>
                      </a:r>
                      <a:r>
                        <a:rPr lang="en-US" sz="1400">
                          <a:effectLst/>
                        </a:rPr>
                        <a:t>schema</a:t>
                      </a:r>
                      <a:r>
                        <a:rPr lang="ja-JP" altLang="en-US" sz="1400">
                          <a:effectLst/>
                        </a:rPr>
                        <a:t>等</a:t>
                      </a:r>
                      <a:r>
                        <a:rPr lang="en-US" altLang="ja-JP" sz="1400">
                          <a:effectLst/>
                        </a:rPr>
                        <a:t>)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3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17,228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16,521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1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706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162061"/>
                  </a:ext>
                </a:extLst>
              </a:tr>
              <a:tr h="203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 b="1">
                          <a:effectLst/>
                        </a:rPr>
                        <a:t>ドキュメント</a:t>
                      </a:r>
                      <a:r>
                        <a:rPr lang="ja-JP" altLang="en-US" sz="1400">
                          <a:effectLst/>
                        </a:rPr>
                        <a:t> </a:t>
                      </a:r>
                      <a:r>
                        <a:rPr lang="en-US" altLang="ja-JP" sz="1400">
                          <a:effectLst/>
                        </a:rPr>
                        <a:t>(docs/)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26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15,431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12,449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2,917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65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578614"/>
                  </a:ext>
                </a:extLst>
              </a:tr>
              <a:tr h="143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 b="1">
                          <a:effectLst/>
                        </a:rPr>
                        <a:t>設定</a:t>
                      </a:r>
                      <a:r>
                        <a:rPr lang="en-US" altLang="ja-JP" sz="1400" b="1">
                          <a:effectLst/>
                        </a:rPr>
                        <a:t>/</a:t>
                      </a:r>
                      <a:r>
                        <a:rPr lang="ja-JP" altLang="en-US" sz="1400" b="1">
                          <a:effectLst/>
                        </a:rPr>
                        <a:t>インフラ</a:t>
                      </a:r>
                      <a:endParaRPr lang="ja-JP" altLang="en-US" sz="1400">
                        <a:effectLst/>
                      </a:endParaRP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45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3,874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3,043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733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98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429638"/>
                  </a:ext>
                </a:extLst>
              </a:tr>
              <a:tr h="86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 b="1">
                          <a:effectLst/>
                        </a:rPr>
                        <a:t>合計</a:t>
                      </a:r>
                      <a:endParaRPr lang="ja-JP" altLang="en-US" sz="1400">
                        <a:effectLst/>
                      </a:endParaRP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 b="1">
                          <a:effectLst/>
                        </a:rPr>
                        <a:t>393</a:t>
                      </a:r>
                      <a:endParaRPr lang="ja-JP" altLang="en-US" sz="1400">
                        <a:effectLst/>
                      </a:endParaRP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 b="1">
                          <a:effectLst/>
                        </a:rPr>
                        <a:t>92,613</a:t>
                      </a:r>
                      <a:endParaRPr lang="ja-JP" altLang="en-US" sz="1400">
                        <a:effectLst/>
                      </a:endParaRP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 b="1">
                          <a:effectLst/>
                        </a:rPr>
                        <a:t>73,982</a:t>
                      </a:r>
                      <a:endParaRPr lang="ja-JP" altLang="en-US" sz="1400">
                        <a:effectLst/>
                      </a:endParaRP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>
                          <a:effectLst/>
                        </a:rPr>
                        <a:t>12,222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6,409</a:t>
                      </a:r>
                    </a:p>
                  </a:txBody>
                  <a:tcPr marL="53066" marR="53066" marT="24492" marB="2449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077747"/>
                  </a:ext>
                </a:extLst>
              </a:tr>
            </a:tbl>
          </a:graphicData>
        </a:graphic>
      </p:graphicFrame>
      <p:sp>
        <p:nvSpPr>
          <p:cNvPr id="9" name="Text 2">
            <a:extLst>
              <a:ext uri="{FF2B5EF4-FFF2-40B4-BE49-F238E27FC236}">
                <a16:creationId xmlns:a16="http://schemas.microsoft.com/office/drawing/2014/main" id="{73B8AC5F-5268-1661-0E64-8BA1E09C2939}"/>
              </a:ext>
            </a:extLst>
          </p:cNvPr>
          <p:cNvSpPr/>
          <p:nvPr/>
        </p:nvSpPr>
        <p:spPr>
          <a:xfrm>
            <a:off x="457199" y="1161288"/>
            <a:ext cx="8229600" cy="877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Backend/</a:t>
            </a:r>
            <a:r>
              <a:rPr lang="en-US" sz="2000" b="1" dirty="0" err="1">
                <a:solidFill>
                  <a:schemeClr val="bg1"/>
                </a:solidFill>
              </a:rPr>
              <a:t>FrontEnd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ja-JP" altLang="en-US" sz="2000" b="1" dirty="0">
                <a:solidFill>
                  <a:schemeClr val="bg1"/>
                </a:solidFill>
              </a:rPr>
              <a:t>本体</a:t>
            </a:r>
            <a:r>
              <a:rPr lang="ja-JP" altLang="en-US" sz="2000" dirty="0">
                <a:solidFill>
                  <a:schemeClr val="bg1"/>
                </a:solidFill>
              </a:rPr>
              <a:t>： </a:t>
            </a:r>
            <a:r>
              <a:rPr lang="en-US" altLang="ja-JP" sz="2000" dirty="0">
                <a:solidFill>
                  <a:schemeClr val="accent4"/>
                </a:solidFill>
              </a:rPr>
              <a:t>26</a:t>
            </a:r>
            <a:r>
              <a:rPr lang="ja-JP" altLang="en-US" sz="2000" dirty="0">
                <a:solidFill>
                  <a:schemeClr val="accent4"/>
                </a:solidFill>
              </a:rPr>
              <a:t> </a:t>
            </a:r>
            <a:r>
              <a:rPr lang="en-US" altLang="ja-JP" sz="2000" dirty="0" err="1">
                <a:solidFill>
                  <a:schemeClr val="accent4"/>
                </a:solidFill>
              </a:rPr>
              <a:t>kstep</a:t>
            </a:r>
            <a:endParaRPr lang="en-US" altLang="ja-JP" sz="20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ja-JP" altLang="en-US" sz="2000" b="1" dirty="0">
                <a:solidFill>
                  <a:schemeClr val="bg1"/>
                </a:solidFill>
              </a:rPr>
              <a:t>テスト</a:t>
            </a:r>
            <a:r>
              <a:rPr lang="en-US" altLang="ja-JP" sz="2000" dirty="0">
                <a:solidFill>
                  <a:schemeClr val="bg1"/>
                </a:solidFill>
              </a:rPr>
              <a:t>:</a:t>
            </a:r>
            <a:r>
              <a:rPr lang="ja-JP" altLang="en-US" sz="2000" dirty="0">
                <a:solidFill>
                  <a:schemeClr val="bg1"/>
                </a:solidFill>
              </a:rPr>
              <a:t>　　　　　　　　</a:t>
            </a:r>
            <a:r>
              <a:rPr lang="en-US" altLang="ja-JP" sz="2000" dirty="0">
                <a:solidFill>
                  <a:schemeClr val="bg1"/>
                </a:solidFill>
              </a:rPr>
              <a:t>22 </a:t>
            </a:r>
            <a:r>
              <a:rPr lang="en-US" altLang="ja-JP" sz="2000" dirty="0" err="1">
                <a:solidFill>
                  <a:schemeClr val="bg1"/>
                </a:solidFill>
              </a:rPr>
              <a:t>kstep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ja-JP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chemeClr val="bg1"/>
                </a:solidFill>
              </a:rPr>
              <a:t>ドキュメントなどを含めた総生成行数は、</a:t>
            </a:r>
            <a:r>
              <a:rPr lang="ja-JP" altLang="en-US" sz="2000" dirty="0">
                <a:solidFill>
                  <a:schemeClr val="accent4"/>
                </a:solidFill>
              </a:rPr>
              <a:t>約 </a:t>
            </a:r>
            <a:r>
              <a:rPr lang="en-US" altLang="ja-JP" sz="2000" dirty="0">
                <a:solidFill>
                  <a:schemeClr val="accent4"/>
                </a:solidFill>
              </a:rPr>
              <a:t>10</a:t>
            </a:r>
            <a:r>
              <a:rPr lang="ja-JP" altLang="en-US" sz="2000" dirty="0">
                <a:solidFill>
                  <a:schemeClr val="accent4"/>
                </a:solidFill>
              </a:rPr>
              <a:t>万行</a:t>
            </a:r>
            <a:r>
              <a:rPr lang="ja-JP" altLang="en-US" sz="2000" dirty="0">
                <a:solidFill>
                  <a:schemeClr val="bg1"/>
                </a:solidFill>
              </a:rPr>
              <a:t>程度</a:t>
            </a:r>
            <a:endParaRPr lang="en-US" altLang="ja-JP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949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C3D89EE3-8344-C560-B8F4-DDB3B065C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72" y="0"/>
            <a:ext cx="699705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49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F0BF071C-F7A3-BB83-D217-9839B4794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244" y="0"/>
            <a:ext cx="70035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206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CA5CE2-59FB-D842-2B6A-A8CD38C2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369FED85-DD76-0056-0889-5B5820131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48" y="0"/>
            <a:ext cx="701170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72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6EF607-34E1-F6B7-CE8B-C90050318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A54C563E-A48B-4704-5036-E98F4104B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00" y="0"/>
            <a:ext cx="7015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700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0AC058-8A06-106D-3E6D-390B5E6F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9990D6D9-EC3E-3CD4-BB90-80C9AEB8A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95" y="0"/>
            <a:ext cx="697060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698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706582-5CBE-80D4-2CB2-A96615AAC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3A4A5F88-C243-5739-1504-14DF33486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104" y="0"/>
            <a:ext cx="704779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787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4C424E-F438-F13F-33B3-B187F853B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F012BCA8-64A5-574B-4662-1211BC689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25" y="0"/>
            <a:ext cx="70069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563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19CD7-9B95-F8DC-D36B-D1A9ED0A7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4D1FFE66-5A44-0099-D421-0C10BCFBB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69" y="0"/>
            <a:ext cx="700646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0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DCBD1-C7A4-4626-1572-59F6D5694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241CD7B0-CC04-D48A-ABA8-213AA83B6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329" y="0"/>
            <a:ext cx="70173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64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17E0C-06D9-3FC3-61E6-5C7D81018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94276BA5-DCC9-86A0-4AD5-B025D2B84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680" y="0"/>
            <a:ext cx="705064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024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576ECD-AA84-CD44-D9CD-05DE11AD0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9363056-F839-F3D7-D6B7-53AB8E4FA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20" y="0"/>
            <a:ext cx="701256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93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4E8D7-DE4F-4144-367C-187ECE9EF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F6981BAC-6550-77C0-69D1-5B373C137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0"/>
            <a:ext cx="69723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835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1491"/>
            <a:ext cx="9121140" cy="269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950" b="1" dirty="0">
                <a:solidFill>
                  <a:srgbClr val="E0F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Stack — </a:t>
            </a:r>
            <a:r>
              <a:rPr lang="ja-JP" altLang="en-US" sz="1950" b="1" dirty="0">
                <a:solidFill>
                  <a:srgbClr val="E0F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開発環境 概観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05377" y="331859"/>
            <a:ext cx="8310387" cy="0"/>
          </a:xfrm>
          <a:prstGeom prst="line">
            <a:avLst/>
          </a:prstGeom>
          <a:noFill/>
          <a:ln w="1905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4" name="Shape 2"/>
          <p:cNvSpPr/>
          <p:nvPr/>
        </p:nvSpPr>
        <p:spPr>
          <a:xfrm>
            <a:off x="304015" y="435551"/>
            <a:ext cx="3344441" cy="3055084"/>
          </a:xfrm>
          <a:prstGeom prst="rect">
            <a:avLst/>
          </a:prstGeom>
          <a:solidFill>
            <a:srgbClr val="1E3A5F"/>
          </a:solidFill>
          <a:ln w="31750">
            <a:solidFill>
              <a:srgbClr val="3A7FD5"/>
            </a:solidFill>
            <a:prstDash val="solid"/>
          </a:ln>
          <a:effectLst>
            <a:outerShdw blurRad="1016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ja-JP" altLang="en-US" sz="1350"/>
          </a:p>
        </p:txBody>
      </p:sp>
      <p:sp>
        <p:nvSpPr>
          <p:cNvPr id="5" name="Shape 3"/>
          <p:cNvSpPr/>
          <p:nvPr/>
        </p:nvSpPr>
        <p:spPr>
          <a:xfrm>
            <a:off x="304015" y="435551"/>
            <a:ext cx="3344441" cy="82982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6" name="Text 4"/>
          <p:cNvSpPr/>
          <p:nvPr/>
        </p:nvSpPr>
        <p:spPr>
          <a:xfrm>
            <a:off x="428306" y="634639"/>
            <a:ext cx="1672499" cy="116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7AB8F5"/>
                </a:solidFill>
              </a:rPr>
              <a:t>Windows 11 PC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44687" y="624234"/>
            <a:ext cx="1049253" cy="107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5A9FD5"/>
                </a:solidFill>
              </a:rPr>
              <a:t>192.168.4.21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6057" y="903267"/>
            <a:ext cx="3091038" cy="2458768"/>
          </a:xfrm>
          <a:prstGeom prst="rect">
            <a:avLst/>
          </a:prstGeom>
          <a:solidFill>
            <a:srgbClr val="0D1E36"/>
          </a:solidFill>
          <a:ln w="19050">
            <a:solidFill>
              <a:srgbClr val="2A6090"/>
            </a:solidFill>
            <a:prstDash val="solid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9" name="Text 7"/>
          <p:cNvSpPr/>
          <p:nvPr/>
        </p:nvSpPr>
        <p:spPr>
          <a:xfrm>
            <a:off x="456057" y="992393"/>
            <a:ext cx="3091038" cy="1492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A0C8FF"/>
                </a:solidFill>
              </a:rPr>
              <a:t>🖥  Claude Desktop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57418" y="1284269"/>
            <a:ext cx="2863010" cy="668636"/>
          </a:xfrm>
          <a:prstGeom prst="rect">
            <a:avLst/>
          </a:prstGeom>
          <a:solidFill>
            <a:srgbClr val="0A2540"/>
          </a:solidFill>
          <a:ln w="19050">
            <a:solidFill>
              <a:srgbClr val="1A5090"/>
            </a:solidFill>
            <a:prstDash val="solid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11" name="Text 9"/>
          <p:cNvSpPr/>
          <p:nvPr/>
        </p:nvSpPr>
        <p:spPr>
          <a:xfrm>
            <a:off x="557418" y="1399755"/>
            <a:ext cx="2863010" cy="439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60B0FF"/>
                </a:solidFill>
              </a:rPr>
              <a:t>Claude Code</a:t>
            </a:r>
            <a:endParaRPr lang="en-US" sz="1500" dirty="0"/>
          </a:p>
          <a:p>
            <a:pPr algn="ctr"/>
            <a:r>
              <a:rPr lang="en-US" sz="1200" dirty="0">
                <a:solidFill>
                  <a:srgbClr val="4090D0"/>
                </a:solidFill>
              </a:rPr>
              <a:t>SSH接続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2A7090"/>
                </a:solidFill>
              </a:rPr>
              <a:t>→ claude-dev (192.168.4.17)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418" y="2069012"/>
            <a:ext cx="2863010" cy="839124"/>
          </a:xfrm>
          <a:prstGeom prst="rect">
            <a:avLst/>
          </a:prstGeom>
          <a:solidFill>
            <a:srgbClr val="0A2540"/>
          </a:solidFill>
          <a:ln w="19050">
            <a:solidFill>
              <a:srgbClr val="1A5090"/>
            </a:solidFill>
            <a:prstDash val="solid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13" name="Text 11"/>
          <p:cNvSpPr/>
          <p:nvPr/>
        </p:nvSpPr>
        <p:spPr>
          <a:xfrm>
            <a:off x="557418" y="2179969"/>
            <a:ext cx="2863010" cy="5889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60B0FF"/>
                </a:solidFill>
              </a:rPr>
              <a:t>Claude Cowork</a:t>
            </a:r>
            <a:endParaRPr lang="en-US" sz="1500" dirty="0"/>
          </a:p>
          <a:p>
            <a:pPr algn="ctr"/>
            <a:r>
              <a:rPr lang="en-US" sz="1200" dirty="0">
                <a:solidFill>
                  <a:srgbClr val="4090D0"/>
                </a:solidFill>
              </a:rPr>
              <a:t>Windows上のChromeと接続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2A7090"/>
                </a:solidFill>
              </a:rPr>
              <a:t>GUI</a:t>
            </a:r>
            <a:r>
              <a:rPr lang="ja-JP" altLang="en-US" sz="1200" dirty="0">
                <a:solidFill>
                  <a:srgbClr val="2A7090"/>
                </a:solidFill>
              </a:rPr>
              <a:t>のシステムテスト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71324" y="435551"/>
            <a:ext cx="3445733" cy="1411498"/>
          </a:xfrm>
          <a:prstGeom prst="rect">
            <a:avLst/>
          </a:prstGeom>
          <a:solidFill>
            <a:srgbClr val="1E3A5F"/>
          </a:solidFill>
          <a:ln w="31750">
            <a:solidFill>
              <a:srgbClr val="3A7FD5"/>
            </a:solidFill>
            <a:prstDash val="solid"/>
          </a:ln>
          <a:effectLst>
            <a:outerShdw blurRad="1016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ja-JP" altLang="en-US" sz="1350"/>
          </a:p>
        </p:txBody>
      </p:sp>
      <p:sp>
        <p:nvSpPr>
          <p:cNvPr id="15" name="Shape 13"/>
          <p:cNvSpPr/>
          <p:nvPr/>
        </p:nvSpPr>
        <p:spPr>
          <a:xfrm>
            <a:off x="5371324" y="435551"/>
            <a:ext cx="3445733" cy="82982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16" name="Text 14"/>
          <p:cNvSpPr/>
          <p:nvPr/>
        </p:nvSpPr>
        <p:spPr>
          <a:xfrm>
            <a:off x="5497990" y="621181"/>
            <a:ext cx="1750656" cy="116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7AB8F5"/>
                </a:solidFill>
              </a:rPr>
              <a:t>Windows 11 PC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48759" y="604651"/>
            <a:ext cx="1119047" cy="107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5A9FD5"/>
                </a:solidFill>
              </a:rPr>
              <a:t>192.168.4.10 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97990" y="890837"/>
            <a:ext cx="3217705" cy="638823"/>
          </a:xfrm>
          <a:prstGeom prst="rect">
            <a:avLst/>
          </a:prstGeom>
          <a:solidFill>
            <a:srgbClr val="0D1E36"/>
          </a:solidFill>
          <a:ln w="19050">
            <a:solidFill>
              <a:srgbClr val="2A6090"/>
            </a:solidFill>
            <a:prstDash val="solid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19" name="Text 17"/>
          <p:cNvSpPr/>
          <p:nvPr/>
        </p:nvSpPr>
        <p:spPr>
          <a:xfrm>
            <a:off x="5497990" y="940626"/>
            <a:ext cx="3217705" cy="5392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FF9F40"/>
                </a:solidFill>
              </a:rPr>
              <a:t>🦙  Ollama Server</a:t>
            </a:r>
            <a:endParaRPr lang="en-US" dirty="0"/>
          </a:p>
          <a:p>
            <a:pPr algn="ctr"/>
            <a:r>
              <a:rPr lang="en-US" sz="825" dirty="0">
                <a:solidFill>
                  <a:srgbClr val="C07020"/>
                </a:solidFill>
              </a:rPr>
              <a:t>LLM ローカルサービング</a:t>
            </a:r>
            <a:endParaRPr lang="en-US" sz="900" dirty="0"/>
          </a:p>
          <a:p>
            <a:pPr algn="ctr"/>
            <a:r>
              <a:rPr lang="en-US" sz="750" dirty="0">
                <a:solidFill>
                  <a:srgbClr val="905010"/>
                </a:solidFill>
              </a:rPr>
              <a:t>Port: 11434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51179" y="2571750"/>
            <a:ext cx="5016627" cy="2322873"/>
          </a:xfrm>
          <a:prstGeom prst="rect">
            <a:avLst/>
          </a:prstGeom>
          <a:solidFill>
            <a:srgbClr val="1F2F1A"/>
          </a:solidFill>
          <a:ln w="31750">
            <a:solidFill>
              <a:srgbClr val="4A9A3A"/>
            </a:solidFill>
            <a:prstDash val="solid"/>
          </a:ln>
          <a:effectLst>
            <a:outerShdw blurRad="1016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ja-JP" altLang="en-US" sz="1350"/>
          </a:p>
        </p:txBody>
      </p:sp>
      <p:sp>
        <p:nvSpPr>
          <p:cNvPr id="21" name="Shape 19"/>
          <p:cNvSpPr/>
          <p:nvPr/>
        </p:nvSpPr>
        <p:spPr>
          <a:xfrm>
            <a:off x="3851179" y="2571750"/>
            <a:ext cx="5016627" cy="82982"/>
          </a:xfrm>
          <a:prstGeom prst="rect">
            <a:avLst/>
          </a:prstGeom>
          <a:solidFill>
            <a:srgbClr val="4A9A3A"/>
          </a:solidFill>
          <a:ln w="12700">
            <a:solidFill>
              <a:srgbClr val="4A9A3A"/>
            </a:solidFill>
            <a:prstDash val="solid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22" name="Text 20"/>
          <p:cNvSpPr/>
          <p:nvPr/>
        </p:nvSpPr>
        <p:spPr>
          <a:xfrm>
            <a:off x="5909195" y="2652584"/>
            <a:ext cx="1729795" cy="273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7AD57A"/>
                </a:solidFill>
              </a:rPr>
              <a:t>Proxmox Server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615784" y="2685771"/>
            <a:ext cx="1260049" cy="201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4A8A3A"/>
                </a:solidFill>
              </a:rPr>
              <a:t>192.168.4.100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977845" y="2945100"/>
            <a:ext cx="2229605" cy="1850014"/>
          </a:xfrm>
          <a:prstGeom prst="rect">
            <a:avLst/>
          </a:prstGeom>
          <a:solidFill>
            <a:srgbClr val="0A1F0A"/>
          </a:solidFill>
          <a:ln w="25400">
            <a:solidFill>
              <a:srgbClr val="3A7A2A"/>
            </a:solidFill>
            <a:prstDash val="solid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25" name="Text 23"/>
          <p:cNvSpPr/>
          <p:nvPr/>
        </p:nvSpPr>
        <p:spPr>
          <a:xfrm>
            <a:off x="3977845" y="2986591"/>
            <a:ext cx="2229605" cy="5184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b="1" dirty="0">
                <a:solidFill>
                  <a:srgbClr val="80D870"/>
                </a:solidFill>
              </a:rPr>
              <a:t>📦  LXC </a:t>
            </a:r>
            <a:r>
              <a:rPr lang="en-US" sz="1200" b="1" dirty="0" err="1">
                <a:solidFill>
                  <a:srgbClr val="80D870"/>
                </a:solidFill>
              </a:rPr>
              <a:t>コンテナ</a:t>
            </a:r>
            <a:endParaRPr lang="en-US" sz="1200" b="1" dirty="0">
              <a:solidFill>
                <a:srgbClr val="80D870"/>
              </a:solidFill>
            </a:endParaRPr>
          </a:p>
          <a:p>
            <a:pPr algn="ctr"/>
            <a:endParaRPr lang="en-US" sz="1200" dirty="0"/>
          </a:p>
          <a:p>
            <a:pPr algn="ctr"/>
            <a:r>
              <a:rPr lang="en-US" b="1" dirty="0">
                <a:solidFill>
                  <a:srgbClr val="A0F090"/>
                </a:solidFill>
              </a:rPr>
              <a:t>claude-dev</a:t>
            </a:r>
            <a:endParaRPr lang="en-US" dirty="0"/>
          </a:p>
          <a:p>
            <a:pPr algn="ctr"/>
            <a:r>
              <a:rPr lang="en-US" sz="1500" dirty="0">
                <a:solidFill>
                  <a:srgbClr val="60A050"/>
                </a:solidFill>
              </a:rPr>
              <a:t>192.168.4.17</a:t>
            </a:r>
            <a:endParaRPr lang="en-US" sz="1500" dirty="0"/>
          </a:p>
          <a:p>
            <a:pPr algn="ctr"/>
            <a:r>
              <a:rPr lang="en-US" sz="750" dirty="0">
                <a:solidFill>
                  <a:srgbClr val="406030"/>
                </a:solidFill>
              </a:rPr>
              <a:t>開発サーバ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4104513" y="4181249"/>
            <a:ext cx="1976270" cy="240579"/>
          </a:xfrm>
          <a:prstGeom prst="rect">
            <a:avLst/>
          </a:prstGeom>
          <a:solidFill>
            <a:srgbClr val="142A14"/>
          </a:solidFill>
          <a:ln w="12700">
            <a:solidFill>
              <a:srgbClr val="2A5A2A"/>
            </a:solidFill>
            <a:prstDash val="solid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29" name="Text 27"/>
          <p:cNvSpPr/>
          <p:nvPr/>
        </p:nvSpPr>
        <p:spPr>
          <a:xfrm>
            <a:off x="4104513" y="4181249"/>
            <a:ext cx="1976270" cy="2405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70C060"/>
                </a:solidFill>
              </a:rPr>
              <a:t>📝  Markdown Stack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410104" y="2945100"/>
            <a:ext cx="2330966" cy="1850014"/>
          </a:xfrm>
          <a:prstGeom prst="rect">
            <a:avLst/>
          </a:prstGeom>
          <a:solidFill>
            <a:srgbClr val="0A1F0A"/>
          </a:solidFill>
          <a:ln w="25400">
            <a:solidFill>
              <a:srgbClr val="3A7A2A"/>
            </a:solidFill>
            <a:prstDash val="solid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33" name="Text 31"/>
          <p:cNvSpPr/>
          <p:nvPr/>
        </p:nvSpPr>
        <p:spPr>
          <a:xfrm>
            <a:off x="6410104" y="2986591"/>
            <a:ext cx="2330966" cy="5184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b="1" dirty="0">
                <a:solidFill>
                  <a:srgbClr val="80D870"/>
                </a:solidFill>
              </a:rPr>
              <a:t>📦  LXC </a:t>
            </a:r>
            <a:r>
              <a:rPr lang="en-US" sz="1200" b="1" dirty="0" err="1">
                <a:solidFill>
                  <a:srgbClr val="80D870"/>
                </a:solidFill>
              </a:rPr>
              <a:t>コンテナ</a:t>
            </a:r>
            <a:endParaRPr lang="en-US" sz="1200" b="1" dirty="0">
              <a:solidFill>
                <a:srgbClr val="80D870"/>
              </a:solidFill>
            </a:endParaRPr>
          </a:p>
          <a:p>
            <a:pPr algn="ctr"/>
            <a:endParaRPr lang="en-US" sz="1200" dirty="0"/>
          </a:p>
          <a:p>
            <a:pPr algn="ctr"/>
            <a:r>
              <a:rPr lang="en-US" b="1" dirty="0">
                <a:solidFill>
                  <a:srgbClr val="A0F090"/>
                </a:solidFill>
              </a:rPr>
              <a:t>markdown-stack-test</a:t>
            </a:r>
            <a:endParaRPr lang="en-US" dirty="0"/>
          </a:p>
          <a:p>
            <a:pPr algn="ctr"/>
            <a:r>
              <a:rPr lang="en-US" sz="1500" dirty="0">
                <a:solidFill>
                  <a:srgbClr val="60A050"/>
                </a:solidFill>
              </a:rPr>
              <a:t>192.168.4.13</a:t>
            </a:r>
            <a:endParaRPr lang="en-US" sz="1500" dirty="0"/>
          </a:p>
          <a:p>
            <a:pPr algn="ctr"/>
            <a:r>
              <a:rPr lang="en-US" sz="750" dirty="0">
                <a:solidFill>
                  <a:srgbClr val="406030"/>
                </a:solidFill>
              </a:rPr>
              <a:t>テストサーバ</a:t>
            </a:r>
            <a:endParaRPr lang="en-US" sz="825" dirty="0"/>
          </a:p>
        </p:txBody>
      </p:sp>
      <p:sp>
        <p:nvSpPr>
          <p:cNvPr id="36" name="Shape 34"/>
          <p:cNvSpPr/>
          <p:nvPr/>
        </p:nvSpPr>
        <p:spPr>
          <a:xfrm>
            <a:off x="6536840" y="4185585"/>
            <a:ext cx="2077562" cy="240579"/>
          </a:xfrm>
          <a:prstGeom prst="rect">
            <a:avLst/>
          </a:prstGeom>
          <a:solidFill>
            <a:srgbClr val="142A14"/>
          </a:solidFill>
          <a:ln w="12700">
            <a:solidFill>
              <a:srgbClr val="2A5A2A"/>
            </a:solidFill>
            <a:prstDash val="solid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37" name="Text 35"/>
          <p:cNvSpPr/>
          <p:nvPr/>
        </p:nvSpPr>
        <p:spPr>
          <a:xfrm>
            <a:off x="6536840" y="4185585"/>
            <a:ext cx="2077562" cy="2405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70C060"/>
                </a:solidFill>
              </a:rPr>
              <a:t>📝  Markdown Stack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04015" y="3710489"/>
            <a:ext cx="3344441" cy="2942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 err="1">
                <a:solidFill>
                  <a:srgbClr val="80B0E0"/>
                </a:solidFill>
              </a:rPr>
              <a:t>凡例</a:t>
            </a: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05376" y="4037936"/>
            <a:ext cx="3141719" cy="0"/>
          </a:xfrm>
          <a:prstGeom prst="line">
            <a:avLst/>
          </a:prstGeom>
          <a:noFill/>
          <a:ln w="1270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43" name="Shape 41"/>
          <p:cNvSpPr/>
          <p:nvPr/>
        </p:nvSpPr>
        <p:spPr>
          <a:xfrm>
            <a:off x="445907" y="4145812"/>
            <a:ext cx="456057" cy="0"/>
          </a:xfrm>
          <a:prstGeom prst="line">
            <a:avLst/>
          </a:prstGeom>
          <a:noFill/>
          <a:ln w="31750">
            <a:solidFill>
              <a:srgbClr val="3A8FD5"/>
            </a:solidFill>
            <a:prstDash val="lgDash"/>
            <a:tailEnd type="arrow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44" name="Text 42"/>
          <p:cNvSpPr/>
          <p:nvPr/>
        </p:nvSpPr>
        <p:spPr>
          <a:xfrm>
            <a:off x="993176" y="4087724"/>
            <a:ext cx="2558994" cy="124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80B0E0"/>
                </a:solidFill>
              </a:rPr>
              <a:t>SSH接続 (Claude Code)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45907" y="4386390"/>
            <a:ext cx="456057" cy="0"/>
          </a:xfrm>
          <a:prstGeom prst="line">
            <a:avLst/>
          </a:prstGeom>
          <a:noFill/>
          <a:ln w="31750">
            <a:solidFill>
              <a:srgbClr val="20B0C0"/>
            </a:solidFill>
            <a:prstDash val="lgDash"/>
            <a:tailEnd type="arrow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46" name="Text 44"/>
          <p:cNvSpPr/>
          <p:nvPr/>
        </p:nvSpPr>
        <p:spPr>
          <a:xfrm>
            <a:off x="993176" y="4328303"/>
            <a:ext cx="2558994" cy="124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80B0E0"/>
                </a:solidFill>
              </a:rPr>
              <a:t>Chrome接続 / Webテスト (Cowork)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45907" y="4626969"/>
            <a:ext cx="456057" cy="0"/>
          </a:xfrm>
          <a:prstGeom prst="line">
            <a:avLst/>
          </a:prstGeom>
          <a:noFill/>
          <a:ln w="31750">
            <a:solidFill>
              <a:srgbClr val="D08020"/>
            </a:solidFill>
            <a:prstDash val="lgDash"/>
            <a:tailEnd type="arrow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48" name="Text 46"/>
          <p:cNvSpPr/>
          <p:nvPr/>
        </p:nvSpPr>
        <p:spPr>
          <a:xfrm>
            <a:off x="993176" y="4568882"/>
            <a:ext cx="2558994" cy="124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80B0E0"/>
                </a:solidFill>
              </a:rPr>
              <a:t>Ollama LLM API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04015" y="4961009"/>
            <a:ext cx="8513042" cy="149299"/>
          </a:xfrm>
          <a:prstGeom prst="rect">
            <a:avLst/>
          </a:prstGeom>
          <a:solidFill>
            <a:srgbClr val="0A152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58" name="Text 56"/>
          <p:cNvSpPr/>
          <p:nvPr/>
        </p:nvSpPr>
        <p:spPr>
          <a:xfrm>
            <a:off x="304015" y="4961009"/>
            <a:ext cx="8513042" cy="1492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dirty="0">
                <a:solidFill>
                  <a:srgbClr val="3A6090"/>
                </a:solidFill>
              </a:rPr>
              <a:t>🌐  Local Network: 192.168.4.0/24</a:t>
            </a:r>
            <a:endParaRPr lang="en-US" sz="825" dirty="0"/>
          </a:p>
        </p:txBody>
      </p:sp>
      <p:sp>
        <p:nvSpPr>
          <p:cNvPr id="59" name="Shape 57"/>
          <p:cNvSpPr/>
          <p:nvPr/>
        </p:nvSpPr>
        <p:spPr>
          <a:xfrm flipV="1">
            <a:off x="3420428" y="1592961"/>
            <a:ext cx="1573343" cy="12400"/>
          </a:xfrm>
          <a:prstGeom prst="line">
            <a:avLst/>
          </a:prstGeom>
          <a:noFill/>
          <a:ln w="31750">
            <a:solidFill>
              <a:srgbClr val="3A8FD5"/>
            </a:solidFill>
            <a:prstDash val="lgDash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60" name="Shape 58"/>
          <p:cNvSpPr/>
          <p:nvPr/>
        </p:nvSpPr>
        <p:spPr>
          <a:xfrm>
            <a:off x="4993771" y="1599160"/>
            <a:ext cx="0" cy="1354238"/>
          </a:xfrm>
          <a:prstGeom prst="line">
            <a:avLst/>
          </a:prstGeom>
          <a:noFill/>
          <a:ln w="31750">
            <a:solidFill>
              <a:srgbClr val="3A8FD5"/>
            </a:solidFill>
            <a:prstDash val="lgDash"/>
            <a:headEnd type="none" w="med" len="med"/>
            <a:tailEnd type="arrow" w="lg" len="lg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63" name="Text 61"/>
          <p:cNvSpPr/>
          <p:nvPr/>
        </p:nvSpPr>
        <p:spPr>
          <a:xfrm>
            <a:off x="4347230" y="1337924"/>
            <a:ext cx="658780" cy="1492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60A8E0"/>
                </a:solidFill>
              </a:rPr>
              <a:t>SSH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3420428" y="2369881"/>
            <a:ext cx="856547" cy="0"/>
          </a:xfrm>
          <a:prstGeom prst="line">
            <a:avLst/>
          </a:prstGeom>
          <a:noFill/>
          <a:ln w="31750">
            <a:solidFill>
              <a:srgbClr val="20B0C0"/>
            </a:solidFill>
            <a:prstDash val="lgDash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66" name="Shape 64"/>
          <p:cNvSpPr/>
          <p:nvPr/>
        </p:nvSpPr>
        <p:spPr>
          <a:xfrm>
            <a:off x="4276974" y="2369882"/>
            <a:ext cx="0" cy="1811367"/>
          </a:xfrm>
          <a:prstGeom prst="line">
            <a:avLst/>
          </a:prstGeom>
          <a:noFill/>
          <a:ln w="31750">
            <a:solidFill>
              <a:srgbClr val="20B0C0"/>
            </a:solidFill>
            <a:prstDash val="lgDash"/>
            <a:tailEnd type="arrow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68" name="Text 66"/>
          <p:cNvSpPr/>
          <p:nvPr/>
        </p:nvSpPr>
        <p:spPr>
          <a:xfrm>
            <a:off x="3685190" y="2105328"/>
            <a:ext cx="1130401" cy="1492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30D0E0"/>
                </a:solidFill>
              </a:rPr>
              <a:t>Webテスト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7094189" y="1521363"/>
            <a:ext cx="0" cy="801511"/>
          </a:xfrm>
          <a:prstGeom prst="line">
            <a:avLst/>
          </a:prstGeom>
          <a:noFill/>
          <a:ln w="31750">
            <a:solidFill>
              <a:srgbClr val="D08020"/>
            </a:solidFill>
            <a:prstDash val="lgDash"/>
            <a:headEnd type="arrow" w="lg" len="lg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72" name="Shape 70"/>
          <p:cNvSpPr/>
          <p:nvPr/>
        </p:nvSpPr>
        <p:spPr>
          <a:xfrm flipH="1">
            <a:off x="5859683" y="2322873"/>
            <a:ext cx="1234507" cy="0"/>
          </a:xfrm>
          <a:prstGeom prst="line">
            <a:avLst/>
          </a:prstGeom>
          <a:noFill/>
          <a:ln w="31750">
            <a:solidFill>
              <a:srgbClr val="D08020"/>
            </a:solidFill>
            <a:prstDash val="lgDash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73" name="Shape 71"/>
          <p:cNvSpPr/>
          <p:nvPr/>
        </p:nvSpPr>
        <p:spPr>
          <a:xfrm>
            <a:off x="5859683" y="2322873"/>
            <a:ext cx="0" cy="1862712"/>
          </a:xfrm>
          <a:prstGeom prst="line">
            <a:avLst/>
          </a:prstGeom>
          <a:noFill/>
          <a:ln w="31750">
            <a:solidFill>
              <a:srgbClr val="D08020"/>
            </a:solidFill>
            <a:prstDash val="lgDash"/>
            <a:tailEnd type="arrow" w="lg" len="lg"/>
          </a:ln>
        </p:spPr>
        <p:txBody>
          <a:bodyPr/>
          <a:lstStyle/>
          <a:p>
            <a:endParaRPr lang="ja-JP" altLang="en-US" sz="1350"/>
          </a:p>
        </p:txBody>
      </p:sp>
      <p:sp>
        <p:nvSpPr>
          <p:cNvPr id="75" name="Text 73"/>
          <p:cNvSpPr/>
          <p:nvPr/>
        </p:nvSpPr>
        <p:spPr>
          <a:xfrm>
            <a:off x="6160908" y="2095928"/>
            <a:ext cx="861434" cy="1492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E09030"/>
                </a:solidFill>
              </a:rPr>
              <a:t>LLM API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3つの重要ポイント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743200" cy="3474720"/>
          </a:xfrm>
          <a:prstGeom prst="rect">
            <a:avLst/>
          </a:prstGeom>
          <a:solidFill>
            <a:srgbClr val="F4F5F8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502920"/>
          </a:xfrm>
          <a:prstGeom prst="rect">
            <a:avLst/>
          </a:prstGeom>
          <a:solidFill>
            <a:srgbClr val="50505E"/>
          </a:solidFill>
          <a:ln w="12700">
            <a:solidFill>
              <a:srgbClr val="5050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 ゴールの共有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</a:t>
            </a:r>
            <a:r>
              <a:rPr lang="en-US" sz="1300" b="1" dirty="0" err="1">
                <a:solidFill>
                  <a:srgbClr val="0070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何を実現したいか</a:t>
            </a:r>
            <a:r>
              <a:rPr lang="en-US" sz="13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」をClaude</a:t>
            </a: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と最初に共有する</a:t>
            </a:r>
            <a:endParaRPr lang="en-US" sz="1300" dirty="0">
              <a:solidFill>
                <a:srgbClr val="3333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endParaRPr lang="en-US" sz="1300" dirty="0">
              <a:solidFill>
                <a:srgbClr val="3333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整合性より網羅性</a:t>
            </a:r>
            <a:endParaRPr lang="en-US" sz="1300" dirty="0">
              <a:solidFill>
                <a:srgbClr val="3333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endParaRPr lang="en-US" sz="1300" dirty="0">
              <a:solidFill>
                <a:srgbClr val="3333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あとはClaudeが整えてくれる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743200" cy="3474720"/>
          </a:xfrm>
          <a:prstGeom prst="rect">
            <a:avLst/>
          </a:prstGeom>
          <a:solidFill>
            <a:srgbClr val="F4F5F8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743200" cy="502920"/>
          </a:xfrm>
          <a:prstGeom prst="rect">
            <a:avLst/>
          </a:prstGeom>
          <a:solidFill>
            <a:srgbClr val="50505E"/>
          </a:solidFill>
          <a:ln w="12700">
            <a:solidFill>
              <a:srgbClr val="5050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24612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 壁打ちでブレークダウン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383280" y="173736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Claudeとの対話で</a:t>
            </a:r>
            <a:endParaRPr lang="en-US" sz="1300" dirty="0">
              <a:solidFill>
                <a:srgbClr val="3333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(</a:t>
            </a:r>
            <a:r>
              <a:rPr lang="en-US" altLang="ja-JP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※not Claude Code)</a:t>
            </a:r>
            <a:endParaRPr lang="en-US" sz="900" dirty="0">
              <a:solidFill>
                <a:srgbClr val="3333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endParaRPr lang="en-US" sz="1300" b="1" dirty="0">
              <a:solidFill>
                <a:srgbClr val="0070C0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0070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要件定義</a:t>
            </a:r>
            <a:r>
              <a:rPr lang="en-US" sz="1300" b="1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r>
              <a:rPr lang="en-US" sz="1300" b="1" dirty="0" err="1">
                <a:solidFill>
                  <a:srgbClr val="0070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アクションプラン</a:t>
            </a:r>
            <a:endParaRPr lang="en-US" sz="1300" b="1" dirty="0">
              <a:solidFill>
                <a:srgbClr val="0070C0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endParaRPr lang="en-US" sz="1300" dirty="0">
              <a:solidFill>
                <a:srgbClr val="3333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を作り</a:t>
            </a: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</a:t>
            </a:r>
            <a:r>
              <a:rPr lang="en-US" sz="13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への情報を整備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743200" cy="3474720"/>
          </a:xfrm>
          <a:prstGeom prst="rect">
            <a:avLst/>
          </a:prstGeom>
          <a:solidFill>
            <a:srgbClr val="F4F5F8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743200" cy="502920"/>
          </a:xfrm>
          <a:prstGeom prst="rect">
            <a:avLst/>
          </a:prstGeom>
          <a:solidFill>
            <a:srgbClr val="50505E"/>
          </a:solidFill>
          <a:ln w="12700">
            <a:solidFill>
              <a:srgbClr val="5050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12648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 </a:t>
            </a:r>
            <a:r>
              <a:rPr lang="en-US" sz="1400" b="1" dirty="0" err="1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</a:t>
            </a:r>
            <a:r>
              <a:rPr lang="en-US" sz="1400" b="1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ー</a:t>
            </a:r>
            <a:r>
              <a:rPr lang="ja-JP" altLang="en-US" sz="1400" b="1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</a:t>
            </a:r>
            <a:r>
              <a:rPr lang="en-US" sz="1400" b="1" dirty="0" err="1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テストは過剰に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63640" y="173736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フェーズ完了ごとにレビュ</a:t>
            </a: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ー</a:t>
            </a:r>
          </a:p>
          <a:p>
            <a:pPr marL="0" indent="0">
              <a:buNone/>
            </a:pPr>
            <a:endParaRPr lang="en-US" sz="1300" dirty="0">
              <a:solidFill>
                <a:srgbClr val="3333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sz="13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ドキュメント整合チェック</a:t>
            </a:r>
            <a:endParaRPr lang="en-US" sz="1300" dirty="0">
              <a:solidFill>
                <a:srgbClr val="3333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ja-JP" alt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・インタフェースの整合性も</a:t>
            </a:r>
            <a:endParaRPr lang="en-US" sz="1300" dirty="0">
              <a:solidFill>
                <a:srgbClr val="3333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endParaRPr lang="en-US" sz="1300" dirty="0">
              <a:solidFill>
                <a:srgbClr val="3333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動いたら必ず自分で触る</a:t>
            </a:r>
            <a:endParaRPr lang="en-US" sz="1300" dirty="0">
              <a:solidFill>
                <a:srgbClr val="3333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endParaRPr lang="en-US" sz="1300" dirty="0">
              <a:solidFill>
                <a:srgbClr val="333333"/>
              </a:solidFill>
              <a:latin typeface="Meiryo" pitchFamily="34" charset="0"/>
              <a:ea typeface="Meiryo" pitchFamily="34" charset="-122"/>
            </a:endParaRPr>
          </a:p>
          <a:p>
            <a:pPr marL="0" indent="0">
              <a:buNone/>
            </a:pPr>
            <a:endParaRPr lang="en-US" sz="1300" dirty="0">
              <a:solidFill>
                <a:srgbClr val="333333"/>
              </a:solidFill>
              <a:latin typeface="Meiryo" pitchFamily="34" charset="0"/>
              <a:ea typeface="Meiryo" pitchFamily="34" charset="-122"/>
            </a:endParaRPr>
          </a:p>
          <a:p>
            <a:r>
              <a:rPr lang="en-US" altLang="ja-JP" sz="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altLang="ja-JP" sz="8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引継ぎ資料を依頼</a:t>
            </a:r>
            <a:endParaRPr lang="en-US" altLang="ja-JP" sz="800" dirty="0">
              <a:solidFill>
                <a:srgbClr val="3333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r>
              <a:rPr lang="ja-JP" altLang="en-US" sz="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・コンテキストをきれいに</a:t>
            </a:r>
            <a:endParaRPr lang="en-US" altLang="ja-JP" sz="800" dirty="0">
              <a:solidFill>
                <a:srgbClr val="3333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r>
              <a:rPr lang="ja-JP" altLang="en-US" sz="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（新しいセッションで）</a:t>
            </a:r>
            <a:endParaRPr lang="en-US" altLang="ja-JP" sz="800" dirty="0">
              <a:solidFill>
                <a:srgbClr val="3333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0505E"/>
          </a:solidFill>
          <a:ln w="12700">
            <a:solidFill>
              <a:srgbClr val="5050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91440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5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最重要は「ゴールの共有」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840480" cy="356616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Claudeと共有すること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56032" cy="25603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>
              <a:solidFill>
                <a:schemeClr val="accent4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755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このアプリで何を実現したいか？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256032" cy="25603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 dirty="0">
              <a:solidFill>
                <a:schemeClr val="accent4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25054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5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使ったら何が楽になるか？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256032" cy="25603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2552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5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こだわりのポイントはどこか？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1143000"/>
            <a:ext cx="4297680" cy="356616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617720" y="1234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書き方のコツ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17720" y="1719072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　</a:t>
            </a:r>
            <a:r>
              <a:rPr lang="en-US" sz="1300" dirty="0" err="1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ざっと箇条書きで書き出す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5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整合性は気にしない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</a:t>
            </a:r>
            <a:r>
              <a:rPr lang="en-US" sz="1300" dirty="0" err="1">
                <a:solidFill>
                  <a:schemeClr val="bg1">
                    <a:lumMod val="95000"/>
                  </a:scheme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あとでClaudeが指摘してくれる</a:t>
            </a: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
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" pitchFamily="34" charset="-120"/>
              </a:rPr>
              <a:t>　　  </a:t>
            </a:r>
            <a:r>
              <a:rPr lang="en-US" sz="13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" pitchFamily="34" charset="-120"/>
              </a:rPr>
              <a:t>網羅性を優先</a:t>
            </a:r>
            <a:endParaRPr lang="en-US" sz="13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5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思いついたことを全部書く</a:t>
            </a:r>
            <a:endParaRPr lang="en-US" sz="130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78E91F22-6882-EECF-2BDE-1C7658BF47B0}"/>
              </a:ext>
            </a:extLst>
          </p:cNvPr>
          <p:cNvSpPr/>
          <p:nvPr/>
        </p:nvSpPr>
        <p:spPr>
          <a:xfrm>
            <a:off x="4610085" y="1672820"/>
            <a:ext cx="256032" cy="25603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>
              <a:solidFill>
                <a:schemeClr val="accent4"/>
              </a:solidFill>
            </a:endParaRP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6D2E0786-8D13-205A-7D93-1E2EAAD2EC20}"/>
              </a:ext>
            </a:extLst>
          </p:cNvPr>
          <p:cNvSpPr/>
          <p:nvPr/>
        </p:nvSpPr>
        <p:spPr>
          <a:xfrm>
            <a:off x="4626864" y="2678660"/>
            <a:ext cx="256032" cy="25603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0505E"/>
          </a:solidFill>
          <a:ln w="12700">
            <a:solidFill>
              <a:srgbClr val="5050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91440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5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ブレークダウンは「壁打ち」が全て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920240" cy="3474720"/>
          </a:xfrm>
          <a:prstGeom prst="rect">
            <a:avLst/>
          </a:prstGeom>
          <a:solidFill>
            <a:srgbClr val="F4F5F8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005840" y="1188720"/>
            <a:ext cx="548640" cy="548640"/>
          </a:xfrm>
          <a:prstGeom prst="ellipse">
            <a:avLst/>
          </a:prstGeom>
          <a:solidFill>
            <a:srgbClr val="50505E"/>
          </a:solidFill>
          <a:ln w="12700">
            <a:solidFill>
              <a:srgbClr val="5050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4A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プロンプト作成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60604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やりたいことを</a:t>
            </a:r>
            <a:endParaRPr lang="en-US" sz="1200" dirty="0">
              <a:solidFill>
                <a:srgbClr val="555555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箇条書きで整理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40280" y="2697480"/>
            <a:ext cx="201168" cy="548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2468880" y="1097280"/>
            <a:ext cx="1920240" cy="3474720"/>
          </a:xfrm>
          <a:prstGeom prst="rect">
            <a:avLst/>
          </a:prstGeom>
          <a:solidFill>
            <a:srgbClr val="F4F5F8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154680" y="1188720"/>
            <a:ext cx="548640" cy="548640"/>
          </a:xfrm>
          <a:prstGeom prst="ellipse">
            <a:avLst/>
          </a:prstGeom>
          <a:solidFill>
            <a:srgbClr val="50505E"/>
          </a:solidFill>
          <a:ln w="12700">
            <a:solidFill>
              <a:srgbClr val="5050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1546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60320" y="19202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4A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と壁打ち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60604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要件定義書を</a:t>
            </a:r>
            <a:endParaRPr lang="en-US" sz="1200" dirty="0">
              <a:solidFill>
                <a:srgbClr val="555555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対話形式で仕上げる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2697480"/>
            <a:ext cx="201168" cy="548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4617720" y="1097280"/>
            <a:ext cx="1920240" cy="3474720"/>
          </a:xfrm>
          <a:prstGeom prst="rect">
            <a:avLst/>
          </a:prstGeom>
          <a:solidFill>
            <a:srgbClr val="F4F5F8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rgbClr val="50505E"/>
          </a:solidFill>
          <a:ln w="12700">
            <a:solidFill>
              <a:srgbClr val="50505E"/>
            </a:solidFill>
            <a:prstDash val="solid"/>
          </a:ln>
        </p:spPr>
        <p:txBody>
          <a:bodyPr/>
          <a:lstStyle/>
          <a:p>
            <a:endParaRPr lang="ja-JP" altLang="en-US">
              <a:solidFill>
                <a:schemeClr val="accent4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09160" y="19202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4A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アクションプラン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ja-JP" sz="1200" dirty="0" err="1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要件定義書を</a:t>
            </a:r>
            <a:endParaRPr lang="en-US" altLang="ja-JP" sz="1200" dirty="0">
              <a:solidFill>
                <a:srgbClr val="555555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Projectに登録</a:t>
            </a:r>
            <a:endParaRPr lang="en-US" sz="1200" dirty="0">
              <a:solidFill>
                <a:srgbClr val="555555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ja-JP" alt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↓</a:t>
            </a:r>
            <a:endParaRPr lang="en-US" sz="1200" dirty="0">
              <a:solidFill>
                <a:srgbClr val="555555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開発計画を作成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2697480"/>
            <a:ext cx="201168" cy="548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6766560" y="1097280"/>
            <a:ext cx="1920240" cy="3474720"/>
          </a:xfrm>
          <a:prstGeom prst="rect">
            <a:avLst/>
          </a:prstGeom>
          <a:solidFill>
            <a:srgbClr val="F4F5F8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7452360" y="1188720"/>
            <a:ext cx="548640" cy="548640"/>
          </a:xfrm>
          <a:prstGeom prst="ellipse">
            <a:avLst/>
          </a:prstGeom>
          <a:solidFill>
            <a:srgbClr val="50505E"/>
          </a:solidFill>
          <a:ln w="12700">
            <a:solidFill>
              <a:srgbClr val="5050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74523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58000" y="19202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4A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へ</a:t>
            </a: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3A4A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引継ぎ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260604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CLAUDE.md等の</a:t>
            </a:r>
            <a:endParaRPr lang="en-US" sz="1200" dirty="0">
              <a:solidFill>
                <a:srgbClr val="555555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制御ファイルを生成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50505E"/>
          </a:solidFill>
          <a:ln w="12700">
            <a:solidFill>
              <a:srgbClr val="5050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 Claude Code を使う前に、Claude（Web）との壁打ちで設計を固めることが成功の鍵</a:t>
            </a:r>
            <a:endParaRPr lang="en-US" sz="12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0505E"/>
          </a:solidFill>
          <a:ln w="12700">
            <a:solidFill>
              <a:srgbClr val="5050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91440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</a:t>
            </a:r>
            <a:r>
              <a:rPr lang="en-US" sz="24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レビューとテストは過剰にやらせる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05156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73152" cy="105156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9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 </a:t>
            </a:r>
            <a:r>
              <a:rPr lang="en-US" sz="1500" b="1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フェーズ完了時のレビュー</a:t>
            </a:r>
            <a:endParaRPr lang="en-US" sz="1500" dirty="0">
              <a:solidFill>
                <a:schemeClr val="accent4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作成物のレビューとドキュメントの整合性確保を必ず依頼する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8412480" cy="105156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73152" cy="105156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94360" y="25146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9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🔁  </a:t>
            </a:r>
            <a:r>
              <a:rPr lang="en-US" sz="1500" b="1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セッション引継ぎ</a:t>
            </a:r>
            <a:endParaRPr lang="en-US" sz="1500" dirty="0">
              <a:solidFill>
                <a:schemeClr val="accent4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289864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フェーズが終わったらセッションを閉じ、引継ぎ資料と引継ぎプロンプトを作成してもらう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8412480" cy="105156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73152" cy="105156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94360" y="37490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9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👀  </a:t>
            </a:r>
            <a:r>
              <a:rPr lang="en-US" sz="1500" b="1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必ず自分の目で確認</a:t>
            </a:r>
            <a:endParaRPr lang="en-US" sz="1500" dirty="0">
              <a:solidFill>
                <a:schemeClr val="accent4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413308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動くものができたらサーバーを起動してもらい、自分で触って確認。おかしければその場で修正依頼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6868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73152" cy="86868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85800" y="1444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9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 </a:t>
            </a:r>
            <a:r>
              <a:rPr lang="en-US" sz="1500" b="1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ゴールの共有</a:t>
            </a:r>
            <a:endParaRPr lang="en-US" sz="1500" dirty="0">
              <a:solidFill>
                <a:schemeClr val="accent4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8470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 </a:t>
            </a:r>
            <a:r>
              <a:rPr lang="en-US" sz="13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最初の壁打ちが全体品質を決める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86868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73152" cy="86868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85800" y="24963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9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 </a:t>
            </a:r>
            <a:r>
              <a:rPr lang="en-US" sz="1500" b="1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壁打ちでブレークダウン</a:t>
            </a:r>
            <a:endParaRPr lang="en-US" sz="1500" dirty="0">
              <a:solidFill>
                <a:schemeClr val="accent4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2898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 Claude Code </a:t>
            </a:r>
            <a:r>
              <a:rPr lang="en-US" sz="13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投入前に設計を固める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86868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73152" cy="86868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85800" y="3547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 レビュー &amp; テストは過剰に</a:t>
            </a:r>
            <a:endParaRPr lang="en-US" sz="1500" dirty="0">
              <a:solidFill>
                <a:schemeClr val="accent4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3950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 人間の目で確認するループを忘れずに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詳細は配布資料をご参照ください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477</Words>
  <Application>Microsoft Office PowerPoint</Application>
  <PresentationFormat>画面に合わせる (16:9)</PresentationFormat>
  <Paragraphs>199</Paragraphs>
  <Slides>21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Meiryo UI</vt:lpstr>
      <vt:lpstr>メイリオ</vt:lpstr>
      <vt:lpstr>Arial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Codeと共に作る中規模アプリケーション</dc:title>
  <dc:subject>PptxGenJS Presentation</dc:subject>
  <dc:creator>PptxGenJS</dc:creator>
  <cp:lastModifiedBy>Masashi Nara</cp:lastModifiedBy>
  <cp:revision>13</cp:revision>
  <dcterms:created xsi:type="dcterms:W3CDTF">2026-03-01T04:18:19Z</dcterms:created>
  <dcterms:modified xsi:type="dcterms:W3CDTF">2026-03-01T13:20:12Z</dcterms:modified>
</cp:coreProperties>
</file>