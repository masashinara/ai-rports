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41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0" d="100"/>
          <a:sy n="180" d="100"/>
        </p:scale>
        <p:origin x="30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56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92126"/>
            <a:ext cx="914400" cy="914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2072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93512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SECURITY 10-MIN BRIEF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346606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Fable</a:t>
            </a:r>
            <a:r>
              <a:rPr lang="ja-JP" altLang="en-US" sz="4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時代の </a:t>
            </a:r>
            <a:r>
              <a:rPr lang="en-US" sz="4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</a:t>
            </a:r>
            <a:r>
              <a:rPr lang="en-US" sz="4600" b="1" dirty="0" err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を安全に</a:t>
            </a:r>
            <a:endParaRPr lang="en-US" sz="4600" b="1" dirty="0">
              <a:solidFill>
                <a:srgbClr val="0D1B2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4600" b="1" dirty="0" err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使うための</a:t>
            </a:r>
            <a:r>
              <a:rPr lang="en-US" sz="4600" dirty="0"/>
              <a:t> </a:t>
            </a:r>
            <a:r>
              <a:rPr lang="en-US" sz="4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</a:t>
            </a:r>
            <a:r>
              <a:rPr lang="en-US" sz="4600" b="1" dirty="0" err="1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つの約束</a:t>
            </a:r>
            <a:r>
              <a:rPr lang="ja-JP" altLang="en-US" sz="4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77240" y="3992526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5</a:t>
            </a:r>
            <a:r>
              <a:rPr lang="ja-JP" alt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は、</a:t>
            </a:r>
            <a:r>
              <a:rPr lang="en-US" sz="1600" dirty="0" err="1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コードを読む・書く・コマンドを実行できる</a:t>
            </a:r>
            <a:r>
              <a:rPr lang="ja-JP" alt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力が格段に増しています。</a:t>
            </a:r>
            <a:endParaRPr lang="en-US" sz="1600" dirty="0">
              <a:solidFill>
                <a:srgbClr val="5B64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 err="1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だからこそ「レビューする・権限を絞る・隔離環境で動かす」を守って使</a:t>
            </a:r>
            <a:r>
              <a:rPr lang="ja-JP" alt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う必要があります</a:t>
            </a: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4998366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D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777240" y="499836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レビューする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18688" y="4998366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D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3218688" y="499836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権限を絞る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67528" y="4998366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D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367528" y="499836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隔離する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</a:t>
            </a:r>
            <a:r>
              <a:rPr lang="en-US" sz="1000" dirty="0" err="1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内向け</a:t>
            </a: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セキュリティ紹介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635508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1968B50-6649-C984-B72D-846FFC5FA5BB}"/>
              </a:ext>
            </a:extLst>
          </p:cNvPr>
          <p:cNvSpPr/>
          <p:nvPr/>
        </p:nvSpPr>
        <p:spPr>
          <a:xfrm>
            <a:off x="795528" y="5980177"/>
            <a:ext cx="46748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https://code.claude.com/docs/en/security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r>
              <a:rPr lang="en-US" sz="1300" kern="0" spc="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なぜセキュリティが必要か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4183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0:00–0:45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は「チャット」ではなく</a:t>
            </a:r>
            <a:endParaRPr lang="en-US" sz="3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開発作業を実行するエージェント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に任せる範囲が広がるほど、アクセス権と実行権を絞る必要が</a:t>
            </a:r>
            <a:r>
              <a:rPr lang="ja-JP" altLang="en-US" sz="1800" b="1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あります</a:t>
            </a:r>
            <a:r>
              <a:rPr lang="en-US" sz="1800" b="1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コードベースの読み取り、ファイルの書き換え、テストやビルドなどの</a:t>
            </a:r>
            <a:r>
              <a:rPr lang="en-US" sz="1600" b="1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コマンド実行</a:t>
            </a: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ができ</a:t>
            </a:r>
            <a:r>
              <a:rPr lang="ja-JP" alt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ます</a:t>
            </a: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便利な反面、</a:t>
            </a: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誤った変更・秘密情報の読み取り・危険なコマンド実行・外部通信による情報流出</a:t>
            </a: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といったリスクを伴</a:t>
            </a:r>
            <a:r>
              <a:rPr lang="ja-JP" alt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います</a:t>
            </a: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公式の best practices でも、提案された変更のレビュー、機密リポジトリ向けの権限設定、Dev Container による追加隔離、/permissions の定期確認が推奨されてい</a:t>
            </a:r>
            <a:r>
              <a:rPr lang="ja-JP" alt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ます</a:t>
            </a: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772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Security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64008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0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5B4353F-AD7B-75CF-0A8E-FFC8EADCCB82}"/>
              </a:ext>
            </a:extLst>
          </p:cNvPr>
          <p:cNvSpPr/>
          <p:nvPr/>
        </p:nvSpPr>
        <p:spPr>
          <a:xfrm>
            <a:off x="795528" y="5980177"/>
            <a:ext cx="46748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https://code.claude.com/docs/en/security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r>
              <a:rPr lang="en-US" sz="1300" kern="0" spc="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守るべき 3 つのレイヤー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4183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0:45–1:45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安全対策は 1 個ではなく、3 層で考える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3310128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FC7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069848" y="2322576"/>
            <a:ext cx="731520" cy="73152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50545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318211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69848" y="342900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レビュー層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69848" y="384048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問題を見つける仕組み。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2011680"/>
            <a:ext cx="3310128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FC7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4773168" y="2322576"/>
            <a:ext cx="731520" cy="731520"/>
          </a:xfrm>
          <a:prstGeom prst="ellipse">
            <a:avLst/>
          </a:prstGeom>
          <a:solidFill>
            <a:srgbClr val="1D4D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50545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73168" y="318211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02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73168" y="342900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権限制御層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773168" y="384048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触れる範囲を絞る。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83880" y="2011680"/>
            <a:ext cx="3310128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FC7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4"/>
          <p:cNvSpPr/>
          <p:nvPr/>
        </p:nvSpPr>
        <p:spPr>
          <a:xfrm>
            <a:off x="8476488" y="2322576"/>
            <a:ext cx="731520" cy="731520"/>
          </a:xfrm>
          <a:prstGeom prst="ellipse">
            <a:avLst/>
          </a:prstGeom>
          <a:solidFill>
            <a:srgbClr val="7A5C0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368" y="250545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76488" y="318211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03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476488" y="3429000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隔離層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76488" y="384048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アクセスを制限する</a:t>
            </a: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仕組み。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4846320"/>
            <a:ext cx="10625328" cy="868680"/>
          </a:xfrm>
          <a:prstGeom prst="roundRect">
            <a:avLst>
              <a:gd name="adj" fmla="val 6316"/>
            </a:avLst>
          </a:prstGeom>
          <a:solidFill>
            <a:srgbClr val="EAF1EF"/>
          </a:solidFill>
          <a:ln w="12700">
            <a:solidFill>
              <a:srgbClr val="CFC7B6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504748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35608" y="4956048"/>
            <a:ext cx="97566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レビューは「</a:t>
            </a:r>
            <a:r>
              <a:rPr lang="en-US" sz="13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見つける仕組み</a:t>
            </a:r>
            <a:r>
              <a:rPr 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r>
              <a:rPr lang="ja-JP" alt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</a:t>
            </a:r>
            <a:r>
              <a:rPr 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、権限と sandbox は「</a:t>
            </a:r>
            <a:r>
              <a:rPr lang="ja-JP" altLang="en-US" sz="13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行動を制限する</a:t>
            </a:r>
            <a:r>
              <a:rPr lang="en-US" sz="13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</a:t>
            </a:r>
            <a:r>
              <a:rPr 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r>
              <a:rPr lang="ja-JP" alt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です</a:t>
            </a:r>
            <a:r>
              <a:rPr 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。役割が違</a:t>
            </a:r>
            <a:r>
              <a:rPr lang="ja-JP" alt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います</a:t>
            </a:r>
            <a:r>
              <a:rPr 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1"/>
          <p:cNvSpPr/>
          <p:nvPr/>
        </p:nvSpPr>
        <p:spPr>
          <a:xfrm>
            <a:off x="7772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Security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943600" y="64008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4ABB8AC8-4668-4F58-3CB9-272B12937BF3}"/>
              </a:ext>
            </a:extLst>
          </p:cNvPr>
          <p:cNvGrpSpPr/>
          <p:nvPr/>
        </p:nvGrpSpPr>
        <p:grpSpPr>
          <a:xfrm>
            <a:off x="2194560" y="2168651"/>
            <a:ext cx="1815084" cy="1060706"/>
            <a:chOff x="2194560" y="2168651"/>
            <a:chExt cx="1815084" cy="1060706"/>
          </a:xfrm>
        </p:grpSpPr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2DA07127-E9FD-C761-A785-DEEBDCF2B77F}"/>
                </a:ext>
              </a:extLst>
            </p:cNvPr>
            <p:cNvGrpSpPr/>
            <p:nvPr/>
          </p:nvGrpSpPr>
          <p:grpSpPr>
            <a:xfrm>
              <a:off x="2194560" y="2168651"/>
              <a:ext cx="1815084" cy="274321"/>
              <a:chOff x="5367528" y="5577840"/>
              <a:chExt cx="1627632" cy="457200"/>
            </a:xfrm>
          </p:grpSpPr>
          <p:sp>
            <p:nvSpPr>
              <p:cNvPr id="31" name="Shape 8">
                <a:extLst>
                  <a:ext uri="{FF2B5EF4-FFF2-40B4-BE49-F238E27FC236}">
                    <a16:creationId xmlns:a16="http://schemas.microsoft.com/office/drawing/2014/main" id="{18DFDF99-944A-70C7-650B-627ECBC9C02B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5875">
                <a:solidFill>
                  <a:srgbClr val="1D4D4F"/>
                </a:solidFill>
                <a:prstDash val="solid"/>
              </a:ln>
            </p:spPr>
            <p:txBody>
              <a:bodyPr/>
              <a:lstStyle/>
              <a:p>
                <a:endParaRPr lang="ja-JP" altLang="en-US" sz="1050"/>
              </a:p>
            </p:txBody>
          </p:sp>
          <p:sp>
            <p:nvSpPr>
              <p:cNvPr id="32" name="Text 9">
                <a:extLst>
                  <a:ext uri="{FF2B5EF4-FFF2-40B4-BE49-F238E27FC236}">
                    <a16:creationId xmlns:a16="http://schemas.microsoft.com/office/drawing/2014/main" id="{11AFDA07-6378-C7B2-9F39-E83BCD621831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ja-JP" sz="1050" dirty="0">
                    <a:solidFill>
                      <a:srgbClr val="5B64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security-guidance プラグイン</a:t>
                </a:r>
                <a:endParaRPr lang="en-US" sz="1050" dirty="0"/>
              </a:p>
            </p:txBody>
          </p:sp>
        </p:grp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196386ED-CD42-CBF2-AB0C-BDC89BEC3CFF}"/>
                </a:ext>
              </a:extLst>
            </p:cNvPr>
            <p:cNvGrpSpPr/>
            <p:nvPr/>
          </p:nvGrpSpPr>
          <p:grpSpPr>
            <a:xfrm>
              <a:off x="2194560" y="2569464"/>
              <a:ext cx="1815084" cy="274321"/>
              <a:chOff x="5367528" y="5577840"/>
              <a:chExt cx="1627632" cy="457200"/>
            </a:xfrm>
          </p:grpSpPr>
          <p:sp>
            <p:nvSpPr>
              <p:cNvPr id="35" name="Shape 8">
                <a:extLst>
                  <a:ext uri="{FF2B5EF4-FFF2-40B4-BE49-F238E27FC236}">
                    <a16:creationId xmlns:a16="http://schemas.microsoft.com/office/drawing/2014/main" id="{7E3CD4B1-D74F-7E6E-DC4C-2779A313093F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5875">
                <a:solidFill>
                  <a:srgbClr val="1D4D4F"/>
                </a:solidFill>
                <a:prstDash val="solid"/>
              </a:ln>
            </p:spPr>
            <p:txBody>
              <a:bodyPr/>
              <a:lstStyle/>
              <a:p>
                <a:endParaRPr lang="ja-JP" altLang="en-US" sz="1050"/>
              </a:p>
            </p:txBody>
          </p:sp>
          <p:sp>
            <p:nvSpPr>
              <p:cNvPr id="36" name="Text 9">
                <a:extLst>
                  <a:ext uri="{FF2B5EF4-FFF2-40B4-BE49-F238E27FC236}">
                    <a16:creationId xmlns:a16="http://schemas.microsoft.com/office/drawing/2014/main" id="{862432B9-4AA0-609D-4DB0-D35749F8E80A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ja-JP" sz="1050" dirty="0">
                    <a:solidFill>
                      <a:srgbClr val="5B64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 レビュー</a:t>
                </a:r>
                <a:endParaRPr lang="en-US" sz="1050" dirty="0"/>
              </a:p>
            </p:txBody>
          </p:sp>
        </p:grp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27A6C6CA-D84C-FFBC-5581-A018530FBDBB}"/>
                </a:ext>
              </a:extLst>
            </p:cNvPr>
            <p:cNvGrpSpPr/>
            <p:nvPr/>
          </p:nvGrpSpPr>
          <p:grpSpPr>
            <a:xfrm>
              <a:off x="2194560" y="2955036"/>
              <a:ext cx="1815084" cy="274321"/>
              <a:chOff x="5367528" y="5577840"/>
              <a:chExt cx="1627632" cy="457200"/>
            </a:xfrm>
          </p:grpSpPr>
          <p:sp>
            <p:nvSpPr>
              <p:cNvPr id="40" name="Shape 8">
                <a:extLst>
                  <a:ext uri="{FF2B5EF4-FFF2-40B4-BE49-F238E27FC236}">
                    <a16:creationId xmlns:a16="http://schemas.microsoft.com/office/drawing/2014/main" id="{34CB3692-8C9F-DB25-027C-D741F727A20A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5875">
                <a:solidFill>
                  <a:srgbClr val="1D4D4F"/>
                </a:solidFill>
                <a:prstDash val="solid"/>
              </a:ln>
            </p:spPr>
            <p:txBody>
              <a:bodyPr/>
              <a:lstStyle/>
              <a:p>
                <a:endParaRPr lang="ja-JP" altLang="en-US" sz="1050"/>
              </a:p>
            </p:txBody>
          </p:sp>
          <p:sp>
            <p:nvSpPr>
              <p:cNvPr id="41" name="Text 9">
                <a:extLst>
                  <a:ext uri="{FF2B5EF4-FFF2-40B4-BE49-F238E27FC236}">
                    <a16:creationId xmlns:a16="http://schemas.microsoft.com/office/drawing/2014/main" id="{25BAC63F-55A6-5354-7B0A-91A91F8BD452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ja-JP" sz="1050" dirty="0">
                    <a:solidFill>
                      <a:srgbClr val="5B64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CI・</a:t>
                </a:r>
                <a:r>
                  <a:rPr lang="ja-JP" altLang="en-US" sz="1050" dirty="0">
                    <a:solidFill>
                      <a:srgbClr val="5B64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静的解析ツール</a:t>
                </a:r>
                <a:endParaRPr lang="en-US" sz="1050" dirty="0"/>
              </a:p>
            </p:txBody>
          </p:sp>
        </p:grp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81E9F92C-687F-490C-9F20-B519FFBD862A}"/>
              </a:ext>
            </a:extLst>
          </p:cNvPr>
          <p:cNvGrpSpPr/>
          <p:nvPr/>
        </p:nvGrpSpPr>
        <p:grpSpPr>
          <a:xfrm>
            <a:off x="5902452" y="2176270"/>
            <a:ext cx="1815084" cy="1060706"/>
            <a:chOff x="2194560" y="2168651"/>
            <a:chExt cx="1815084" cy="1060706"/>
          </a:xfrm>
        </p:grpSpPr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519F44D6-C520-593C-BFBF-FB0E2C683EB2}"/>
                </a:ext>
              </a:extLst>
            </p:cNvPr>
            <p:cNvGrpSpPr/>
            <p:nvPr/>
          </p:nvGrpSpPr>
          <p:grpSpPr>
            <a:xfrm>
              <a:off x="2194560" y="2168651"/>
              <a:ext cx="1815084" cy="274321"/>
              <a:chOff x="5367528" y="5577840"/>
              <a:chExt cx="1627632" cy="457200"/>
            </a:xfrm>
          </p:grpSpPr>
          <p:sp>
            <p:nvSpPr>
              <p:cNvPr id="51" name="Shape 8">
                <a:extLst>
                  <a:ext uri="{FF2B5EF4-FFF2-40B4-BE49-F238E27FC236}">
                    <a16:creationId xmlns:a16="http://schemas.microsoft.com/office/drawing/2014/main" id="{87E4D987-30EB-DF8C-09D1-0D7A0883EF5C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5875">
                <a:solidFill>
                  <a:srgbClr val="1D4D4F"/>
                </a:solidFill>
                <a:prstDash val="solid"/>
              </a:ln>
            </p:spPr>
            <p:txBody>
              <a:bodyPr/>
              <a:lstStyle/>
              <a:p>
                <a:endParaRPr lang="ja-JP" altLang="en-US" sz="1050"/>
              </a:p>
            </p:txBody>
          </p:sp>
          <p:sp>
            <p:nvSpPr>
              <p:cNvPr id="52" name="Text 9">
                <a:extLst>
                  <a:ext uri="{FF2B5EF4-FFF2-40B4-BE49-F238E27FC236}">
                    <a16:creationId xmlns:a16="http://schemas.microsoft.com/office/drawing/2014/main" id="{91DC7201-C264-DD38-A621-A8CDCC5E0618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ja-JP" sz="1050" dirty="0">
                    <a:solidFill>
                      <a:srgbClr val="5B64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/permissions</a:t>
                </a:r>
                <a:endParaRPr lang="en-US" sz="1050" dirty="0"/>
              </a:p>
            </p:txBody>
          </p:sp>
        </p:grpSp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1FC8D166-B1C4-76A7-EFEB-7A66B95B1622}"/>
                </a:ext>
              </a:extLst>
            </p:cNvPr>
            <p:cNvGrpSpPr/>
            <p:nvPr/>
          </p:nvGrpSpPr>
          <p:grpSpPr>
            <a:xfrm>
              <a:off x="2194560" y="2569464"/>
              <a:ext cx="1815084" cy="274321"/>
              <a:chOff x="5367528" y="5577840"/>
              <a:chExt cx="1627632" cy="457200"/>
            </a:xfrm>
          </p:grpSpPr>
          <p:sp>
            <p:nvSpPr>
              <p:cNvPr id="49" name="Shape 8">
                <a:extLst>
                  <a:ext uri="{FF2B5EF4-FFF2-40B4-BE49-F238E27FC236}">
                    <a16:creationId xmlns:a16="http://schemas.microsoft.com/office/drawing/2014/main" id="{9F41BD70-27E9-9A3F-DB53-28241B1D6416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5875">
                <a:solidFill>
                  <a:srgbClr val="1D4D4F"/>
                </a:solidFill>
                <a:prstDash val="solid"/>
              </a:ln>
            </p:spPr>
            <p:txBody>
              <a:bodyPr/>
              <a:lstStyle/>
              <a:p>
                <a:endParaRPr lang="ja-JP" altLang="en-US" sz="1050"/>
              </a:p>
            </p:txBody>
          </p:sp>
          <p:sp>
            <p:nvSpPr>
              <p:cNvPr id="50" name="Text 9">
                <a:extLst>
                  <a:ext uri="{FF2B5EF4-FFF2-40B4-BE49-F238E27FC236}">
                    <a16:creationId xmlns:a16="http://schemas.microsoft.com/office/drawing/2014/main" id="{4C99F010-B7A4-B2AB-04F8-532DFFE776F9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ja-JP" sz="1050" dirty="0">
                    <a:solidFill>
                      <a:srgbClr val="5B64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permissions.deny</a:t>
                </a:r>
                <a:endParaRPr lang="en-US" sz="1050" dirty="0"/>
              </a:p>
            </p:txBody>
          </p: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EA19D939-C37F-09EF-3DEB-89F06B811A37}"/>
                </a:ext>
              </a:extLst>
            </p:cNvPr>
            <p:cNvGrpSpPr/>
            <p:nvPr/>
          </p:nvGrpSpPr>
          <p:grpSpPr>
            <a:xfrm>
              <a:off x="2194560" y="2955036"/>
              <a:ext cx="1815084" cy="274321"/>
              <a:chOff x="5367528" y="5577840"/>
              <a:chExt cx="1627632" cy="457200"/>
            </a:xfrm>
          </p:grpSpPr>
          <p:sp>
            <p:nvSpPr>
              <p:cNvPr id="47" name="Shape 8">
                <a:extLst>
                  <a:ext uri="{FF2B5EF4-FFF2-40B4-BE49-F238E27FC236}">
                    <a16:creationId xmlns:a16="http://schemas.microsoft.com/office/drawing/2014/main" id="{5A5BD534-23EB-51EC-7813-838A5123B05F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5875">
                <a:solidFill>
                  <a:srgbClr val="1D4D4F"/>
                </a:solidFill>
                <a:prstDash val="solid"/>
              </a:ln>
            </p:spPr>
            <p:txBody>
              <a:bodyPr/>
              <a:lstStyle/>
              <a:p>
                <a:endParaRPr lang="ja-JP" altLang="en-US" sz="1050"/>
              </a:p>
            </p:txBody>
          </p:sp>
          <p:sp>
            <p:nvSpPr>
              <p:cNvPr id="48" name="Text 9">
                <a:extLst>
                  <a:ext uri="{FF2B5EF4-FFF2-40B4-BE49-F238E27FC236}">
                    <a16:creationId xmlns:a16="http://schemas.microsoft.com/office/drawing/2014/main" id="{1D56CE0B-CCCD-0A9F-B4E8-6BC749220A7C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ja-JP" sz="1050" dirty="0">
                    <a:solidFill>
                      <a:srgbClr val="5B64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secret ファイルの read 禁止</a:t>
                </a:r>
                <a:endParaRPr lang="en-US" sz="1050" dirty="0"/>
              </a:p>
            </p:txBody>
          </p:sp>
        </p:grp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2C2EE506-C920-9F45-0F3E-DEB9C4B3F338}"/>
              </a:ext>
            </a:extLst>
          </p:cNvPr>
          <p:cNvGrpSpPr/>
          <p:nvPr/>
        </p:nvGrpSpPr>
        <p:grpSpPr>
          <a:xfrm>
            <a:off x="9605772" y="2168651"/>
            <a:ext cx="1815084" cy="1060706"/>
            <a:chOff x="2194560" y="2168651"/>
            <a:chExt cx="1815084" cy="1060706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F8B3A8DB-2E30-0B98-772A-F78414C85576}"/>
                </a:ext>
              </a:extLst>
            </p:cNvPr>
            <p:cNvGrpSpPr/>
            <p:nvPr/>
          </p:nvGrpSpPr>
          <p:grpSpPr>
            <a:xfrm>
              <a:off x="2194560" y="2168651"/>
              <a:ext cx="1815084" cy="274321"/>
              <a:chOff x="5367528" y="5577840"/>
              <a:chExt cx="1627632" cy="457200"/>
            </a:xfrm>
          </p:grpSpPr>
          <p:sp>
            <p:nvSpPr>
              <p:cNvPr id="61" name="Shape 8">
                <a:extLst>
                  <a:ext uri="{FF2B5EF4-FFF2-40B4-BE49-F238E27FC236}">
                    <a16:creationId xmlns:a16="http://schemas.microsoft.com/office/drawing/2014/main" id="{D2E64144-1F93-DEAC-9C92-708DD3512E01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5875">
                <a:solidFill>
                  <a:srgbClr val="1D4D4F"/>
                </a:solidFill>
                <a:prstDash val="solid"/>
              </a:ln>
            </p:spPr>
            <p:txBody>
              <a:bodyPr/>
              <a:lstStyle/>
              <a:p>
                <a:endParaRPr lang="ja-JP" altLang="en-US" sz="1050"/>
              </a:p>
            </p:txBody>
          </p:sp>
          <p:sp>
            <p:nvSpPr>
              <p:cNvPr id="62" name="Text 9">
                <a:extLst>
                  <a:ext uri="{FF2B5EF4-FFF2-40B4-BE49-F238E27FC236}">
                    <a16:creationId xmlns:a16="http://schemas.microsoft.com/office/drawing/2014/main" id="{8778825F-2EC8-FEFF-E090-CE6961CFC2ED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ja-JP" sz="1050" dirty="0">
                    <a:solidFill>
                      <a:srgbClr val="5B64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built-in sandbox</a:t>
                </a:r>
                <a:endParaRPr lang="en-US" sz="1050" dirty="0"/>
              </a:p>
            </p:txBody>
          </p:sp>
        </p:grpSp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B3CBF1A2-3AE5-8C1B-C326-3527CC7556C4}"/>
                </a:ext>
              </a:extLst>
            </p:cNvPr>
            <p:cNvGrpSpPr/>
            <p:nvPr/>
          </p:nvGrpSpPr>
          <p:grpSpPr>
            <a:xfrm>
              <a:off x="2194560" y="2569464"/>
              <a:ext cx="1815084" cy="274321"/>
              <a:chOff x="5367528" y="5577840"/>
              <a:chExt cx="1627632" cy="457200"/>
            </a:xfrm>
          </p:grpSpPr>
          <p:sp>
            <p:nvSpPr>
              <p:cNvPr id="59" name="Shape 8">
                <a:extLst>
                  <a:ext uri="{FF2B5EF4-FFF2-40B4-BE49-F238E27FC236}">
                    <a16:creationId xmlns:a16="http://schemas.microsoft.com/office/drawing/2014/main" id="{0C6DB1A8-E700-F538-CCFD-D8B698CE2405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5875">
                <a:solidFill>
                  <a:srgbClr val="1D4D4F"/>
                </a:solidFill>
                <a:prstDash val="solid"/>
              </a:ln>
            </p:spPr>
            <p:txBody>
              <a:bodyPr/>
              <a:lstStyle/>
              <a:p>
                <a:endParaRPr lang="ja-JP" altLang="en-US" sz="1050"/>
              </a:p>
            </p:txBody>
          </p:sp>
          <p:sp>
            <p:nvSpPr>
              <p:cNvPr id="60" name="Text 9">
                <a:extLst>
                  <a:ext uri="{FF2B5EF4-FFF2-40B4-BE49-F238E27FC236}">
                    <a16:creationId xmlns:a16="http://schemas.microsoft.com/office/drawing/2014/main" id="{09256724-5C8A-ECC7-2DF8-4C57F4DACEC0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ja-JP" sz="1050" dirty="0">
                    <a:solidFill>
                      <a:srgbClr val="5B64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DevContainer / Docker</a:t>
                </a:r>
                <a:endParaRPr lang="en-US" sz="1050" dirty="0"/>
              </a:p>
            </p:txBody>
          </p:sp>
        </p:grpSp>
        <p:grpSp>
          <p:nvGrpSpPr>
            <p:cNvPr id="56" name="グループ化 55">
              <a:extLst>
                <a:ext uri="{FF2B5EF4-FFF2-40B4-BE49-F238E27FC236}">
                  <a16:creationId xmlns:a16="http://schemas.microsoft.com/office/drawing/2014/main" id="{0DB76CC4-52DD-2D78-A2C5-00DF6CDEE678}"/>
                </a:ext>
              </a:extLst>
            </p:cNvPr>
            <p:cNvGrpSpPr/>
            <p:nvPr/>
          </p:nvGrpSpPr>
          <p:grpSpPr>
            <a:xfrm>
              <a:off x="2194560" y="2955036"/>
              <a:ext cx="1815084" cy="274321"/>
              <a:chOff x="5367528" y="5577840"/>
              <a:chExt cx="1627632" cy="457200"/>
            </a:xfrm>
          </p:grpSpPr>
          <p:sp>
            <p:nvSpPr>
              <p:cNvPr id="57" name="Shape 8">
                <a:extLst>
                  <a:ext uri="{FF2B5EF4-FFF2-40B4-BE49-F238E27FC236}">
                    <a16:creationId xmlns:a16="http://schemas.microsoft.com/office/drawing/2014/main" id="{22702B92-449D-7B2B-F08C-9C44C823CB11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5875">
                <a:solidFill>
                  <a:srgbClr val="1D4D4F"/>
                </a:solidFill>
                <a:prstDash val="solid"/>
              </a:ln>
            </p:spPr>
            <p:txBody>
              <a:bodyPr/>
              <a:lstStyle/>
              <a:p>
                <a:endParaRPr lang="ja-JP" altLang="en-US" sz="1050"/>
              </a:p>
            </p:txBody>
          </p:sp>
          <p:sp>
            <p:nvSpPr>
              <p:cNvPr id="58" name="Text 9">
                <a:extLst>
                  <a:ext uri="{FF2B5EF4-FFF2-40B4-BE49-F238E27FC236}">
                    <a16:creationId xmlns:a16="http://schemas.microsoft.com/office/drawing/2014/main" id="{60738602-BB50-6FE8-77D1-0CA00D586124}"/>
                  </a:ext>
                </a:extLst>
              </p:cNvPr>
              <p:cNvSpPr/>
              <p:nvPr/>
            </p:nvSpPr>
            <p:spPr>
              <a:xfrm>
                <a:off x="5367528" y="5577840"/>
                <a:ext cx="1627632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altLang="ja-JP" sz="1050" dirty="0">
                    <a:solidFill>
                      <a:srgbClr val="5B647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VM</a:t>
                </a:r>
                <a:endParaRPr lang="en-US" sz="1050" dirty="0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r>
              <a:rPr lang="en-US" sz="1300" kern="0" spc="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security-guidance プラグイン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4183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1:45–3:00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が書いたコードを、その場でレビュー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ファイル編集時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危険パターンを高速チェック（モデル呼び出しなし）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578608"/>
            <a:ext cx="4937760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2724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ターン終了時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724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 diff を別 Claude がレビュー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291840"/>
            <a:ext cx="4937760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77240" y="3438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push 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34381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周辺コードも含めた深いレビュー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005072"/>
            <a:ext cx="4937760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F4F1EA"/>
          </a:solidFill>
          <a:ln w="12700">
            <a:solidFill>
              <a:srgbClr val="CFC7B6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661524"/>
            <a:ext cx="310896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35608" y="4421232"/>
            <a:ext cx="4069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A3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これは</a:t>
            </a:r>
            <a:r>
              <a:rPr lang="en-US" sz="1350" b="1" dirty="0">
                <a:solidFill>
                  <a:srgbClr val="8A3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自動ブロッカーではない</a:t>
            </a:r>
            <a:r>
              <a:rPr lang="en-US" sz="1350" dirty="0">
                <a:solidFill>
                  <a:srgbClr val="8A3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。見逃しもあるため defense-in-depth の一層。最後の砦ではなく、早めに気づく安全ネット。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989320" y="2011680"/>
            <a:ext cx="5413248" cy="3611880"/>
          </a:xfrm>
          <a:prstGeom prst="roundRect">
            <a:avLst>
              <a:gd name="adj" fmla="val 1266"/>
            </a:avLst>
          </a:prstGeom>
          <a:solidFill>
            <a:srgbClr val="10202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281928" y="2267712"/>
            <a:ext cx="48646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7D8D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公式マーケットプレイスを追加
</a:t>
            </a:r>
            <a:r>
              <a:rPr lang="en-US" sz="12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anthropics/claude-plugins-official
</a:t>
            </a:r>
            <a:r>
              <a:rPr lang="en-US" sz="1250" dirty="0">
                <a:solidFill>
                  <a:srgbClr val="7D8D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プラグインを導入
</a:t>
            </a:r>
            <a:r>
              <a:rPr lang="en-US" sz="12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security-guidance@claude-plugins-official
/reload-plugins
</a:t>
            </a:r>
            <a:r>
              <a:rPr lang="en-US" sz="1250" dirty="0">
                <a:solidFill>
                  <a:srgbClr val="7D8D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検出対象の例
</a:t>
            </a:r>
            <a:r>
              <a:rPr lang="en-US" sz="1250" dirty="0">
                <a:solidFill>
                  <a:srgbClr val="9AD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injection / 危険な deserialize
危険な DOM API / 認可バイパス
</a:t>
            </a:r>
            <a:r>
              <a:rPr lang="ja-JP" altLang="en-US" sz="1250" dirty="0">
                <a:solidFill>
                  <a:srgbClr val="9AD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安全でない直接オブジェクト参照</a:t>
            </a:r>
            <a:r>
              <a:rPr lang="en-US" sz="1250" dirty="0">
                <a:solidFill>
                  <a:srgbClr val="9AD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SSRF / 弱い暗号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7772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Security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0" y="64008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580B4865-B958-5C85-A621-9EF89A577F55}"/>
              </a:ext>
            </a:extLst>
          </p:cNvPr>
          <p:cNvSpPr/>
          <p:nvPr/>
        </p:nvSpPr>
        <p:spPr>
          <a:xfrm>
            <a:off x="795528" y="5980177"/>
            <a:ext cx="46748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https://code.claude.com/docs/en/security-guidance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r>
              <a:rPr lang="en-US" sz="1300" kern="0" spc="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利用者が守るルール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4183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3:00–4:15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開発者</a:t>
            </a: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が守る 5 つのルール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だから特別ではなく、新しい開発者に権限を渡す時と同じ慎重さで扱う。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9032" y="2514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の提案をそのまま approve しない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172968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9032" y="3172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を見てから承認する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831336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99032" y="38313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.env・秘密鍵・認証情報を読ませない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39712" y="2514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よく分からない Bash コマンドは許可しない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3172968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39712" y="3172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機密リポジトリでは sandbox / container を使う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5029200"/>
            <a:ext cx="10625328" cy="777240"/>
          </a:xfrm>
          <a:prstGeom prst="roundRect">
            <a:avLst>
              <a:gd name="adj" fmla="val 7059"/>
            </a:avLst>
          </a:prstGeom>
          <a:solidFill>
            <a:srgbClr val="EAF1EF"/>
          </a:solidFill>
          <a:ln w="12700">
            <a:solidFill>
              <a:srgbClr val="CFC7B6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230368"/>
            <a:ext cx="310896" cy="310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35608" y="5138928"/>
            <a:ext cx="975664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は</a:t>
            </a:r>
            <a:r>
              <a:rPr lang="en-US" sz="1350" b="1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ユーザーが承認した範囲だけ</a:t>
            </a:r>
            <a:r>
              <a:rPr 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で動く。だから承認前のレビュー責任は利用者側にもある。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7772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Security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43600" y="64008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r>
              <a:rPr lang="en-US" sz="1300" kern="0" spc="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社内標準案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4183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4:15–5:00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初期設定</a:t>
            </a:r>
            <a:r>
              <a:rPr lang="ja-JP" alt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の</a:t>
            </a: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推奨</a:t>
            </a:r>
            <a:r>
              <a:rPr lang="ja-JP" alt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プラグイン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60320" y="2011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security-guidance を有効化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487168"/>
            <a:ext cx="4937760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25786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禁止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60320" y="25786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/ secrets/** は deny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054096"/>
            <a:ext cx="4937760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77240" y="314553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外部通信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60320" y="314553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不明な curl / wget は原則確認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621024"/>
            <a:ext cx="4937760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7124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60320" y="371246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機密リポジトリは Dev Container / Docker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187952"/>
            <a:ext cx="4937760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77240" y="4279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後段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560320" y="42793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CI のレビューは継続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754880"/>
            <a:ext cx="4937760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77240" y="4983480"/>
            <a:ext cx="4937760" cy="1188720"/>
          </a:xfrm>
          <a:prstGeom prst="roundRect">
            <a:avLst>
              <a:gd name="adj" fmla="val 4615"/>
            </a:avLst>
          </a:prstGeom>
          <a:solidFill>
            <a:srgbClr val="F4F1EA"/>
          </a:solidFill>
          <a:ln w="12700">
            <a:solidFill>
              <a:srgbClr val="CFC7B6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184648"/>
            <a:ext cx="310896" cy="31089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35608" y="5093208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A3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r>
              <a:rPr lang="en-US" sz="1350" b="1" dirty="0">
                <a:solidFill>
                  <a:srgbClr val="8A3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security-guidance を入れれば安全</a:t>
            </a:r>
            <a:r>
              <a:rPr lang="en-US" sz="1350" dirty="0">
                <a:solidFill>
                  <a:srgbClr val="8A3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」とは言わない。in-session の早期検知層であり、PR・CI・依存スキャンを置き換えるものではない。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989320" y="2011680"/>
            <a:ext cx="5413248" cy="4160520"/>
          </a:xfrm>
          <a:prstGeom prst="roundRect">
            <a:avLst>
              <a:gd name="adj" fmla="val 1099"/>
            </a:avLst>
          </a:prstGeom>
          <a:solidFill>
            <a:srgbClr val="10202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6281928" y="2249424"/>
            <a:ext cx="486460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D8D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managed-settings.json（抜粋）
</a:t>
            </a:r>
            <a:r>
              <a:rPr lang="en-US" sz="1250" dirty="0">
                <a:solidFill>
                  <a:srgbClr val="DFE7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12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"enabledPlugins": {
</a:t>
            </a:r>
            <a:r>
              <a:rPr lang="en-US" sz="1250" dirty="0">
                <a:solidFill>
                  <a:srgbClr val="9AD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"security-guidance@...": true
</a:t>
            </a:r>
            <a:r>
              <a:rPr lang="en-US" sz="1250" dirty="0">
                <a:solidFill>
                  <a:srgbClr val="DFE7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
</a:t>
            </a:r>
            <a:r>
              <a:rPr lang="en-US" sz="12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"permissions": {
    "deny": [
</a:t>
            </a:r>
            <a:r>
              <a:rPr lang="en-US" sz="1250" dirty="0">
                <a:solidFill>
                  <a:srgbClr val="9AD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"Read(./.env)",
      "Read(./secrets/**)",
      "Bash(curl *)"
</a:t>
            </a:r>
            <a:r>
              <a:rPr lang="en-US" sz="1250" dirty="0">
                <a:solidFill>
                  <a:srgbClr val="DFE7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
</a:t>
            </a:r>
            <a:r>
              <a:rPr lang="en-US" sz="125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"disableBypassPermissionsMode":
        "disable"
</a:t>
            </a:r>
            <a:r>
              <a:rPr lang="en-US" sz="1250" dirty="0">
                <a:solidFill>
                  <a:srgbClr val="DFE7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}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7772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Security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43600" y="64008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r>
              <a:rPr lang="en-US" sz="1300" kern="0" spc="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Docker / Dev Container の意味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4183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5:00–6:00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化の目的：Claude Code をホストから切り離す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25328" cy="242316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守れる範囲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社員向けの説明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Built-in Bash sandbox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コマンド中心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コマンド実行の影響を絞る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 Container / Docker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D4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実行環境全体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ホストの秘密情報や環境を直接触らせない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VM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D4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全体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より強い隔離が必要な場合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5074920"/>
            <a:ext cx="10625328" cy="868680"/>
          </a:xfrm>
          <a:prstGeom prst="roundRect">
            <a:avLst>
              <a:gd name="adj" fmla="val 6316"/>
            </a:avLst>
          </a:prstGeom>
          <a:solidFill>
            <a:srgbClr val="F4F1EA"/>
          </a:solidFill>
          <a:ln w="12700">
            <a:solidFill>
              <a:srgbClr val="CFC7B6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276088"/>
            <a:ext cx="310896" cy="310896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1435608" y="5184648"/>
            <a:ext cx="97566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A3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でも万能ではない。</a:t>
            </a:r>
            <a:r>
              <a:rPr lang="en-US" sz="1350" b="1" dirty="0">
                <a:solidFill>
                  <a:srgbClr val="8A3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writable mount のコードは変更でき、外部 egress があれば情報流出リスクは残る</a:t>
            </a:r>
            <a:r>
              <a:rPr lang="en-US" sz="1350" dirty="0">
                <a:solidFill>
                  <a:srgbClr val="8A3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。ネットワーク制限と mount 設計が鍵。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6"/>
          <p:cNvSpPr/>
          <p:nvPr/>
        </p:nvSpPr>
        <p:spPr>
          <a:xfrm>
            <a:off x="7772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Security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943600" y="64008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r>
              <a:rPr lang="en-US" sz="1300" kern="0" spc="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実装イメージ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4183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6:00–7:00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最小構成：Dev Container に Claude Code を入れる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486400" cy="3657600"/>
          </a:xfrm>
          <a:prstGeom prst="roundRect">
            <a:avLst>
              <a:gd name="adj" fmla="val 1250"/>
            </a:avLst>
          </a:prstGeom>
          <a:solidFill>
            <a:srgbClr val="10202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51560" y="2231136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D8D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.devcontainer/devcontainer.json
</a:t>
            </a:r>
            <a:r>
              <a:rPr lang="en-US" sz="1200" dirty="0">
                <a:solidFill>
                  <a:srgbClr val="DFE7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</a:t>
            </a:r>
            <a:r>
              <a:rPr lang="en-US" sz="1200" dirty="0">
                <a:solidFill>
                  <a:srgbClr val="9AD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"claude-code-sandbox",
</a:t>
            </a: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"features": {
</a:t>
            </a:r>
            <a:r>
              <a:rPr lang="en-US" sz="1200" dirty="0">
                <a:solidFill>
                  <a:srgbClr val="9AD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".../claude-code:1.0": {}
</a:t>
            </a:r>
            <a:r>
              <a:rPr lang="en-US" sz="1200" dirty="0">
                <a:solidFill>
                  <a:srgbClr val="DFE7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
</a:t>
            </a: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"mounts": [
</a:t>
            </a:r>
            <a:r>
              <a:rPr lang="en-US" sz="1200" dirty="0">
                <a:solidFill>
                  <a:srgbClr val="9AD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"source=...,target=
       /home/vscode/.claude,
       type=volume"
</a:t>
            </a:r>
            <a:r>
              <a:rPr lang="en-US" sz="1200" dirty="0">
                <a:solidFill>
                  <a:srgbClr val="DFE7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
</a:t>
            </a: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"containerEnv": {
</a:t>
            </a:r>
            <a:r>
              <a:rPr lang="en-US" sz="1200" dirty="0">
                <a:solidFill>
                  <a:srgbClr val="9AD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"..._NONESSENTIAL_TRAFFIC": "1"
</a:t>
            </a:r>
            <a:r>
              <a:rPr lang="en-US" sz="1200" dirty="0">
                <a:solidFill>
                  <a:srgbClr val="DFE7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1965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秘密情報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01000" y="196596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~/.ssh・~/.aws・.env を mount しない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2478024"/>
            <a:ext cx="4910328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92240" y="2587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01000" y="258775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必要な接続先だけを allowlist に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3099816"/>
            <a:ext cx="4910328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92240" y="32095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01000" y="3209544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--dangerously-skip-permissions は隔離環境のみ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3721608"/>
            <a:ext cx="4910328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92240" y="38313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01000" y="3831336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強制には MDM / managed settings が別途必要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4343400"/>
            <a:ext cx="4910328" cy="0"/>
          </a:xfrm>
          <a:prstGeom prst="line">
            <a:avLst/>
          </a:prstGeom>
          <a:noFill/>
          <a:ln w="9525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492240" y="4663440"/>
            <a:ext cx="4910328" cy="1005840"/>
          </a:xfrm>
          <a:prstGeom prst="roundRect">
            <a:avLst>
              <a:gd name="adj" fmla="val 5455"/>
            </a:avLst>
          </a:prstGeom>
          <a:solidFill>
            <a:srgbClr val="EAF1EF"/>
          </a:solidFill>
          <a:ln w="12700">
            <a:solidFill>
              <a:srgbClr val="CFC7B6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4864608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50608" y="4773168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 を named volume で mount すれば rebuild 後も認証維持。Linux では /etc/claude-code/managed-settings.json で組織ポリシーを適用。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7772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Security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0" y="64008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188720"/>
            <a:ext cx="914400" cy="914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1D4D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17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D4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78892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の安全運用は、AI を信用するかの話ではない。</a:t>
            </a:r>
            <a:endParaRPr lang="en-US" sz="3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通常の開発セキュリティを、</a:t>
            </a: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エージェントにも適用する</a:t>
            </a: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という話。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4800600"/>
            <a:ext cx="28803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D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777240" y="4800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4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security-guidance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31920" y="480060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D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3931920" y="4800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4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480060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D4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6263640" y="4800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4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 / Docker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6355080"/>
            <a:ext cx="10634472" cy="0"/>
          </a:xfrm>
          <a:prstGeom prst="line">
            <a:avLst/>
          </a:prstGeom>
          <a:noFill/>
          <a:ln w="12700">
            <a:solidFill>
              <a:srgbClr val="CFC7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7772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ja-JP" alt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つの約束事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64008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743</Words>
  <Application>Microsoft Office PowerPoint</Application>
  <PresentationFormat>ワイド画面</PresentationFormat>
  <Paragraphs>144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を安全に使うための 3 つの約束</dc:title>
  <dc:subject>PptxGenJS Presentation</dc:subject>
  <dc:creator>Security Team</dc:creator>
  <cp:lastModifiedBy>Masashi Nara</cp:lastModifiedBy>
  <cp:revision>30</cp:revision>
  <dcterms:created xsi:type="dcterms:W3CDTF">2026-06-08T23:57:57Z</dcterms:created>
  <dcterms:modified xsi:type="dcterms:W3CDTF">2026-06-10T00:49:17Z</dcterms:modified>
</cp:coreProperties>
</file>