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28" d="100"/>
          <a:sy n="228" d="100"/>
        </p:scale>
        <p:origin x="67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90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2638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571500"/>
            <a:ext cx="1905000" cy="1905000"/>
          </a:xfrm>
          <a:prstGeom prst="roundRect">
            <a:avLst>
              <a:gd name="adj" fmla="val 48000"/>
            </a:avLst>
          </a:prstGeom>
          <a:noFill/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39000" y="952500"/>
            <a:ext cx="1143000" cy="1143000"/>
          </a:xfrm>
          <a:prstGeom prst="roundRect">
            <a:avLst>
              <a:gd name="adj" fmla="val 80000"/>
            </a:avLst>
          </a:prstGeom>
          <a:noFill/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/tmp/rasterized-gradient-4c6862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8168" y="649784"/>
            <a:ext cx="2747516" cy="2742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65002" y="706934"/>
            <a:ext cx="24138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LANDSCAPE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828220" y="1305074"/>
            <a:ext cx="3487561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AI機能搭載ツール</a:t>
            </a:r>
            <a:endParaRPr lang="en-US" sz="3300" dirty="0"/>
          </a:p>
          <a:p>
            <a:pPr marL="0" indent="0" algn="ctr">
              <a:lnSpc>
                <a:spcPts val="3960"/>
              </a:lnSpc>
              <a:spcAft>
                <a:spcPts val="1200"/>
              </a:spcAft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調査レポート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3222912" y="2615654"/>
            <a:ext cx="26981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24ツール/組織のAI機能を徹底分析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704695" y="3503265"/>
            <a:ext cx="4663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2704695" y="4333726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調査対象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547467" y="3712666"/>
            <a:ext cx="9525" cy="571500"/>
          </a:xfrm>
          <a:prstGeom prst="rect">
            <a:avLst/>
          </a:prstGeom>
          <a:solidFill>
            <a:srgbClr val="3D3D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112514" y="3503265"/>
            <a:ext cx="2331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932170" y="4333726"/>
            <a:ext cx="593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901208" y="3712666"/>
            <a:ext cx="9525" cy="571500"/>
          </a:xfrm>
          <a:prstGeom prst="rect">
            <a:avLst/>
          </a:prstGeom>
          <a:solidFill>
            <a:srgbClr val="3D3D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280303" y="3503265"/>
            <a:ext cx="116586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5691542" y="4333726"/>
            <a:ext cx="3433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AI関連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85750" y="4781550"/>
            <a:ext cx="8208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 AI機能調査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40a66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228600"/>
            <a:ext cx="44205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エグゼクティブサマリー</a:t>
            </a:r>
            <a:endParaRPr lang="en-US" sz="2400" dirty="0"/>
          </a:p>
        </p:txBody>
      </p:sp>
      <p:pic>
        <p:nvPicPr>
          <p:cNvPr id="4" name="Image 1" descr="/tmp/rasterized-gradient-f39281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64022"/>
            <a:ext cx="3737521" cy="1746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692622"/>
            <a:ext cx="33070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主要発見</a:t>
            </a:r>
            <a:endParaRPr lang="en-US" sz="825" dirty="0"/>
          </a:p>
        </p:txBody>
      </p:sp>
      <p:sp>
        <p:nvSpPr>
          <p:cNvPr id="6" name="Text 2"/>
          <p:cNvSpPr/>
          <p:nvPr/>
        </p:nvSpPr>
        <p:spPr>
          <a:xfrm>
            <a:off x="571500" y="1953518"/>
            <a:ext cx="33070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調査した24ツール全てがAI機能を搭載または AI関連の取り組みを実施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71500" y="2639318"/>
            <a:ext cx="33070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直接AI/ML/GenAIを提供するものから、AI活用を支える基盤ツール・標準・ガバナンスまで幅広く対応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04800" y="3515618"/>
            <a:ext cx="1169640" cy="811411"/>
          </a:xfrm>
          <a:prstGeom prst="roundRect">
            <a:avLst>
              <a:gd name="adj" fmla="val 939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29121" y="3648968"/>
            <a:ext cx="9209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429121" y="4060329"/>
            <a:ext cx="920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AI開発・学習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588740" y="3515618"/>
            <a:ext cx="1169640" cy="811411"/>
          </a:xfrm>
          <a:prstGeom prst="roundRect">
            <a:avLst>
              <a:gd name="adj" fmla="val 939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713061" y="3648968"/>
            <a:ext cx="9209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713061" y="4060329"/>
            <a:ext cx="920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データ処理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2872680" y="3515618"/>
            <a:ext cx="1169640" cy="811411"/>
          </a:xfrm>
          <a:prstGeom prst="roundRect">
            <a:avLst>
              <a:gd name="adj" fmla="val 939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997001" y="3648968"/>
            <a:ext cx="9209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2997001" y="4060329"/>
            <a:ext cx="920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AI運用・監視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270921" y="1490216"/>
            <a:ext cx="4659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8つのカテゴリー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4270921" y="1903512"/>
            <a:ext cx="2236440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385221" y="204058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556671" y="1998762"/>
            <a:ext cx="6931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AI開発・学習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602611" y="1903512"/>
            <a:ext cx="2236589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716911" y="204058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888361" y="1998762"/>
            <a:ext cx="9381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データ処理・準備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270921" y="2349252"/>
            <a:ext cx="2236440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385221" y="248632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56671" y="2444502"/>
            <a:ext cx="6931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AI運用・監視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602611" y="2349252"/>
            <a:ext cx="2236589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716911" y="248632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888361" y="2444502"/>
            <a:ext cx="7125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AI検索・RAG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270921" y="2794992"/>
            <a:ext cx="2236440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385221" y="293206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4CC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556671" y="2890242"/>
            <a:ext cx="5765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AI統合開発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602611" y="2794992"/>
            <a:ext cx="2236589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716911" y="293206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888361" y="2890242"/>
            <a:ext cx="468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エッジAI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270921" y="3240732"/>
            <a:ext cx="2236440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385221" y="337780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556671" y="3335982"/>
            <a:ext cx="1181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AIガバナンス・コスト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602611" y="3240732"/>
            <a:ext cx="2236589" cy="350490"/>
          </a:xfrm>
          <a:prstGeom prst="roundRect">
            <a:avLst>
              <a:gd name="adj" fmla="val 2174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716911" y="337780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888361" y="3335982"/>
            <a:ext cx="891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ネットワーク×AI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4270921" y="3896023"/>
            <a:ext cx="4568279" cy="404813"/>
          </a:xfrm>
          <a:prstGeom prst="roundRect">
            <a:avLst>
              <a:gd name="adj" fmla="val 18824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413796" y="4019848"/>
            <a:ext cx="43681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Foundationエコシステム内でAI技術の民主化と標準化を推進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304800" y="4781550"/>
            <a:ext cx="1933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Linux Foundation Landscape調査 2024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1222" y="228600"/>
            <a:ext cx="929878" cy="266700"/>
          </a:xfrm>
          <a:prstGeom prst="roundRect">
            <a:avLst>
              <a:gd name="adj" fmla="val 57143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14097" y="295275"/>
            <a:ext cx="657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 1/8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1000" y="3429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66700"/>
            <a:ext cx="1662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AI開発・学習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600" y="59055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深層学習・機械学習モデルの構築と学習を支援</a:t>
            </a:r>
            <a:endParaRPr lang="en-US" sz="900" dirty="0"/>
          </a:p>
        </p:txBody>
      </p:sp>
      <p:pic>
        <p:nvPicPr>
          <p:cNvPr id="8" name="Image 0" descr="/tmp/rasterized-gradient-46d064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17240"/>
            <a:ext cx="4143375" cy="9295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1975" y="1150590"/>
            <a:ext cx="1033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DeepSpeed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3871764" y="1150590"/>
            <a:ext cx="500211" cy="158055"/>
          </a:xfrm>
          <a:prstGeom prst="roundRect">
            <a:avLst>
              <a:gd name="adj" fmla="val 60264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947964" y="1169640"/>
            <a:ext cx="3547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61975" y="1426815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深層学習最適化ライブラリ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1975" y="1636365"/>
            <a:ext cx="995214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8175" y="1664940"/>
            <a:ext cx="8596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ZeROオプティマイザ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1595289" y="1636365"/>
            <a:ext cx="49530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71489" y="1664940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分散学習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2128689" y="1636365"/>
            <a:ext cx="747861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04889" y="1664940"/>
            <a:ext cx="6073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LLM推論最適化</a:t>
            </a:r>
            <a:endParaRPr lang="en-US" sz="675" dirty="0"/>
          </a:p>
        </p:txBody>
      </p:sp>
      <p:pic>
        <p:nvPicPr>
          <p:cNvPr id="19" name="Image 1" descr="/tmp/rasterized-gradient-fd15d3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017240"/>
            <a:ext cx="4143375" cy="9295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00600" y="1150590"/>
            <a:ext cx="9794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Kubeflow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8043565" y="1150590"/>
            <a:ext cx="567035" cy="158055"/>
          </a:xfrm>
          <a:prstGeom prst="roundRect">
            <a:avLst>
              <a:gd name="adj" fmla="val 60264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8119765" y="1169640"/>
            <a:ext cx="4229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Native</a:t>
            </a:r>
            <a:endParaRPr lang="en-US" sz="675" dirty="0"/>
          </a:p>
        </p:txBody>
      </p:sp>
      <p:sp>
        <p:nvSpPr>
          <p:cNvPr id="23" name="Text 19"/>
          <p:cNvSpPr/>
          <p:nvPr/>
        </p:nvSpPr>
        <p:spPr>
          <a:xfrm>
            <a:off x="4800600" y="1426815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K8s上のMLワークフロー管理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800600" y="1636365"/>
            <a:ext cx="79801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876800" y="1664940"/>
            <a:ext cx="6585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MLパイプライン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5636716" y="1636365"/>
            <a:ext cx="662434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712916" y="1664940"/>
            <a:ext cx="5202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Katib AutoML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6337250" y="1636365"/>
            <a:ext cx="43353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413450" y="1664940"/>
            <a:ext cx="2867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KServe</a:t>
            </a:r>
            <a:endParaRPr lang="en-US" sz="675" dirty="0"/>
          </a:p>
        </p:txBody>
      </p:sp>
      <p:pic>
        <p:nvPicPr>
          <p:cNvPr id="30" name="Image 2" descr="/tmp/rasterized-gradient-97363e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042071"/>
            <a:ext cx="4143375" cy="9295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1975" y="2175421"/>
            <a:ext cx="72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Ludwig</a:t>
            </a:r>
            <a:endParaRPr lang="en-US" sz="1125" dirty="0"/>
          </a:p>
        </p:txBody>
      </p:sp>
      <p:sp>
        <p:nvSpPr>
          <p:cNvPr id="32" name="Text 27"/>
          <p:cNvSpPr/>
          <p:nvPr/>
        </p:nvSpPr>
        <p:spPr>
          <a:xfrm>
            <a:off x="4033689" y="2175421"/>
            <a:ext cx="338286" cy="158055"/>
          </a:xfrm>
          <a:prstGeom prst="roundRect">
            <a:avLst>
              <a:gd name="adj" fmla="val 60264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109889" y="2194471"/>
            <a:ext cx="1896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</a:t>
            </a:r>
            <a:endParaRPr lang="en-US" sz="675" dirty="0"/>
          </a:p>
        </p:txBody>
      </p:sp>
      <p:sp>
        <p:nvSpPr>
          <p:cNvPr id="34" name="Text 29"/>
          <p:cNvSpPr/>
          <p:nvPr/>
        </p:nvSpPr>
        <p:spPr>
          <a:xfrm>
            <a:off x="561975" y="245164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低コードML フレームワーク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561975" y="2661196"/>
            <a:ext cx="52878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38175" y="2689771"/>
            <a:ext cx="3839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宣言的ML</a:t>
            </a:r>
            <a:endParaRPr lang="en-US" sz="675" dirty="0"/>
          </a:p>
        </p:txBody>
      </p:sp>
      <p:sp>
        <p:nvSpPr>
          <p:cNvPr id="37" name="Text 32"/>
          <p:cNvSpPr/>
          <p:nvPr/>
        </p:nvSpPr>
        <p:spPr>
          <a:xfrm>
            <a:off x="1128861" y="2661196"/>
            <a:ext cx="76453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1205061" y="2689771"/>
            <a:ext cx="6243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マルチモーダル</a:t>
            </a:r>
            <a:endParaRPr lang="en-US" sz="675" dirty="0"/>
          </a:p>
        </p:txBody>
      </p:sp>
      <p:sp>
        <p:nvSpPr>
          <p:cNvPr id="39" name="Text 34"/>
          <p:cNvSpPr/>
          <p:nvPr/>
        </p:nvSpPr>
        <p:spPr>
          <a:xfrm>
            <a:off x="1931491" y="2661196"/>
            <a:ext cx="44797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2007691" y="2689771"/>
            <a:ext cx="3014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AutoML</a:t>
            </a:r>
            <a:endParaRPr lang="en-US" sz="675" dirty="0"/>
          </a:p>
        </p:txBody>
      </p:sp>
      <p:pic>
        <p:nvPicPr>
          <p:cNvPr id="41" name="Image 3" descr="/tmp/rasterized-gradient-0d45e2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625" y="2042071"/>
            <a:ext cx="4143375" cy="9295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800600" y="2175421"/>
            <a:ext cx="7980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</a:t>
            </a:r>
            <a:endParaRPr lang="en-US" sz="1125" dirty="0"/>
          </a:p>
        </p:txBody>
      </p:sp>
      <p:sp>
        <p:nvSpPr>
          <p:cNvPr id="43" name="Text 37"/>
          <p:cNvSpPr/>
          <p:nvPr/>
        </p:nvSpPr>
        <p:spPr>
          <a:xfrm>
            <a:off x="8053239" y="2175421"/>
            <a:ext cx="557361" cy="158055"/>
          </a:xfrm>
          <a:prstGeom prst="roundRect">
            <a:avLst>
              <a:gd name="adj" fmla="val 60264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8129439" y="2194471"/>
            <a:ext cx="4130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675" dirty="0"/>
          </a:p>
        </p:txBody>
      </p:sp>
      <p:sp>
        <p:nvSpPr>
          <p:cNvPr id="45" name="Text 39"/>
          <p:cNvSpPr/>
          <p:nvPr/>
        </p:nvSpPr>
        <p:spPr>
          <a:xfrm>
            <a:off x="4800600" y="245164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MLライフサイクル管理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4800600" y="2661196"/>
            <a:ext cx="49530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876800" y="2689771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実験管理</a:t>
            </a:r>
            <a:endParaRPr lang="en-US" sz="675" dirty="0"/>
          </a:p>
        </p:txBody>
      </p:sp>
      <p:sp>
        <p:nvSpPr>
          <p:cNvPr id="48" name="Text 42"/>
          <p:cNvSpPr/>
          <p:nvPr/>
        </p:nvSpPr>
        <p:spPr>
          <a:xfrm>
            <a:off x="5334000" y="2661196"/>
            <a:ext cx="85427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410200" y="2689771"/>
            <a:ext cx="7159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モデルレジストリ</a:t>
            </a:r>
            <a:endParaRPr lang="en-US" sz="675" dirty="0"/>
          </a:p>
        </p:txBody>
      </p:sp>
      <p:sp>
        <p:nvSpPr>
          <p:cNvPr id="50" name="Text 44"/>
          <p:cNvSpPr/>
          <p:nvPr/>
        </p:nvSpPr>
        <p:spPr>
          <a:xfrm>
            <a:off x="6226373" y="2661196"/>
            <a:ext cx="59561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6302573" y="2689771"/>
            <a:ext cx="4520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</a:t>
            </a:r>
            <a:endParaRPr lang="en-US" sz="675" dirty="0"/>
          </a:p>
        </p:txBody>
      </p:sp>
      <p:pic>
        <p:nvPicPr>
          <p:cNvPr id="52" name="Image 4" descr="/tmp/rasterized-gradient-cd3c09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085951"/>
            <a:ext cx="8382000" cy="797123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581024" y="3247876"/>
            <a:ext cx="20657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Foundation</a:t>
            </a:r>
            <a:endParaRPr lang="en-US" sz="1350" dirty="0"/>
          </a:p>
        </p:txBody>
      </p:sp>
      <p:sp>
        <p:nvSpPr>
          <p:cNvPr id="54" name="Text 47"/>
          <p:cNvSpPr/>
          <p:nvPr/>
        </p:nvSpPr>
        <p:spPr>
          <a:xfrm>
            <a:off x="2773662" y="3279279"/>
            <a:ext cx="557361" cy="177105"/>
          </a:xfrm>
          <a:prstGeom prst="roundRect">
            <a:avLst>
              <a:gd name="adj" fmla="val 5378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2868912" y="3307854"/>
            <a:ext cx="3741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最重要</a:t>
            </a:r>
            <a:endParaRPr lang="en-US" sz="675" dirty="0"/>
          </a:p>
        </p:txBody>
      </p:sp>
      <p:sp>
        <p:nvSpPr>
          <p:cNvPr id="56" name="Text 49"/>
          <p:cNvSpPr/>
          <p:nvPr/>
        </p:nvSpPr>
        <p:spPr>
          <a:xfrm>
            <a:off x="581025" y="3563987"/>
            <a:ext cx="542124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ディープラーニングの標準フレームワーク。LLaMAなど最先端LLMの基盤技術。</a:t>
            </a:r>
            <a:endParaRPr lang="en-US" sz="825" dirty="0"/>
          </a:p>
        </p:txBody>
      </p:sp>
      <p:sp>
        <p:nvSpPr>
          <p:cNvPr id="57" name="Text 50"/>
          <p:cNvSpPr/>
          <p:nvPr/>
        </p:nvSpPr>
        <p:spPr>
          <a:xfrm>
            <a:off x="6086475" y="3259782"/>
            <a:ext cx="533400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6181725" y="3297882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自動微分</a:t>
            </a:r>
            <a:endParaRPr lang="en-US" sz="675" dirty="0"/>
          </a:p>
        </p:txBody>
      </p:sp>
      <p:sp>
        <p:nvSpPr>
          <p:cNvPr id="59" name="Text 52"/>
          <p:cNvSpPr/>
          <p:nvPr/>
        </p:nvSpPr>
        <p:spPr>
          <a:xfrm>
            <a:off x="6677025" y="3259782"/>
            <a:ext cx="600373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6772275" y="3297882"/>
            <a:ext cx="4180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torchvision</a:t>
            </a:r>
            <a:endParaRPr lang="en-US" sz="675" dirty="0"/>
          </a:p>
        </p:txBody>
      </p:sp>
      <p:sp>
        <p:nvSpPr>
          <p:cNvPr id="61" name="Text 54"/>
          <p:cNvSpPr/>
          <p:nvPr/>
        </p:nvSpPr>
        <p:spPr>
          <a:xfrm>
            <a:off x="7334548" y="3259782"/>
            <a:ext cx="590848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7429798" y="3297882"/>
            <a:ext cx="408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torchaudio</a:t>
            </a:r>
            <a:endParaRPr lang="en-US" sz="675" dirty="0"/>
          </a:p>
        </p:txBody>
      </p:sp>
      <p:sp>
        <p:nvSpPr>
          <p:cNvPr id="63" name="Text 56"/>
          <p:cNvSpPr/>
          <p:nvPr/>
        </p:nvSpPr>
        <p:spPr>
          <a:xfrm>
            <a:off x="6086475" y="3513088"/>
            <a:ext cx="624185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6181725" y="3551188"/>
            <a:ext cx="4423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LLM/GenAI</a:t>
            </a:r>
            <a:endParaRPr lang="en-US" sz="675" dirty="0"/>
          </a:p>
        </p:txBody>
      </p:sp>
      <p:sp>
        <p:nvSpPr>
          <p:cNvPr id="65" name="Text 58"/>
          <p:cNvSpPr/>
          <p:nvPr/>
        </p:nvSpPr>
        <p:spPr>
          <a:xfrm>
            <a:off x="381000" y="4743450"/>
            <a:ext cx="1870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各ツールの詳細は公式ドキュメントを参照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257175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57150" cy="2571750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48439" y="190500"/>
            <a:ext cx="1014561" cy="266700"/>
          </a:xfrm>
          <a:prstGeom prst="roundRect">
            <a:avLst>
              <a:gd name="adj" fmla="val 57143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91314" y="257175"/>
            <a:ext cx="7433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 2-3/8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266700"/>
            <a:ext cx="42262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データ処理・準備 / AI検索・RAG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09600" y="571500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AI/MLのためのデータパイプラインと検索拡張生成(RAG)基盤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17544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43149"/>
            <a:ext cx="9381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データ処理・準備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1550789"/>
            <a:ext cx="3950196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1550789"/>
            <a:ext cx="0" cy="89713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2925" y="1684139"/>
            <a:ext cx="7416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45297" y="1717477"/>
            <a:ext cx="1556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42925" y="1927920"/>
            <a:ext cx="3728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文書から構造化データを抽出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2925" y="2137470"/>
            <a:ext cx="741611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166045"/>
            <a:ext cx="6009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PDF/Office解析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322636" y="2137470"/>
            <a:ext cx="595461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98836" y="2166045"/>
            <a:ext cx="4519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RAG前処理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956197" y="2137470"/>
            <a:ext cx="76453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32397" y="2166045"/>
            <a:ext cx="6243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マルチモーダル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1000" y="2695575"/>
            <a:ext cx="3950196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2695575"/>
            <a:ext cx="0" cy="89713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2925" y="2828925"/>
            <a:ext cx="5478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11773" y="2862263"/>
            <a:ext cx="4957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AI &amp; Data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42925" y="3072705"/>
            <a:ext cx="3728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ML向けフィーチャーストア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2925" y="3282255"/>
            <a:ext cx="581025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125" y="3310830"/>
            <a:ext cx="4371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特徴量管理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1162050" y="3282255"/>
            <a:ext cx="105370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38250" y="3310830"/>
            <a:ext cx="9193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オンライン/オフライン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2253853" y="3282255"/>
            <a:ext cx="793998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30053" y="3310830"/>
            <a:ext cx="6544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ベクトルDB統合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81000" y="3840361"/>
            <a:ext cx="3950196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95288" y="3840361"/>
            <a:ext cx="0" cy="897136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42925" y="3973711"/>
            <a:ext cx="8160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StarRocks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35735" y="4007048"/>
            <a:ext cx="4713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高速分析DB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542925" y="4217491"/>
            <a:ext cx="3728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高性能分析データベース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42925" y="4427041"/>
            <a:ext cx="50973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9125" y="4455616"/>
            <a:ext cx="3644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GPU統合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1090761" y="4427041"/>
            <a:ext cx="49530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66961" y="4455616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高速集計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1624161" y="4427041"/>
            <a:ext cx="674787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700361" y="4455616"/>
            <a:ext cx="5328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ベクトル検索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483596" y="151536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655046" y="1483072"/>
            <a:ext cx="7254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AI検索・RAG</a:t>
            </a:r>
            <a:endParaRPr lang="en-US" sz="900" dirty="0"/>
          </a:p>
        </p:txBody>
      </p:sp>
      <p:pic>
        <p:nvPicPr>
          <p:cNvPr id="45" name="Image 0" descr="/tmp/rasterized-gradient-7ddfbd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596" y="1890713"/>
            <a:ext cx="4279404" cy="1219051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4645520" y="2052637"/>
            <a:ext cx="10654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OpenSearch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952631" y="2070646"/>
            <a:ext cx="648444" cy="177105"/>
          </a:xfrm>
          <a:prstGeom prst="roundRect">
            <a:avLst>
              <a:gd name="adj" fmla="val 53782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8047881" y="2099221"/>
            <a:ext cx="4671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RAG主力</a:t>
            </a:r>
            <a:endParaRPr lang="en-US" sz="675" dirty="0"/>
          </a:p>
        </p:txBody>
      </p:sp>
      <p:sp>
        <p:nvSpPr>
          <p:cNvPr id="49" name="Text 46"/>
          <p:cNvSpPr/>
          <p:nvPr/>
        </p:nvSpPr>
        <p:spPr>
          <a:xfrm>
            <a:off x="4645521" y="2342108"/>
            <a:ext cx="40346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Elasticsearch互換の検索・分析エンジン。LLM向け埋め込みベクトルを用いた類似検索とRAGアプリケーションを強力にサポート。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4645521" y="2751683"/>
            <a:ext cx="712887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740771" y="2789783"/>
            <a:ext cx="5328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ベクトル検索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5415558" y="2751683"/>
            <a:ext cx="888355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510808" y="2789783"/>
            <a:ext cx="711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ハイブリッド検索</a:t>
            </a:r>
            <a:endParaRPr lang="en-US" sz="675" dirty="0"/>
          </a:p>
        </p:txBody>
      </p:sp>
      <p:sp>
        <p:nvSpPr>
          <p:cNvPr id="54" name="Text 51"/>
          <p:cNvSpPr/>
          <p:nvPr/>
        </p:nvSpPr>
        <p:spPr>
          <a:xfrm>
            <a:off x="6361063" y="2751683"/>
            <a:ext cx="562273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6456313" y="2789783"/>
            <a:ext cx="3792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AI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6980486" y="2751683"/>
            <a:ext cx="557510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7075736" y="2789783"/>
            <a:ext cx="3743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4483596" y="3376464"/>
            <a:ext cx="4279404" cy="1020961"/>
          </a:xfrm>
          <a:prstGeom prst="roundRect">
            <a:avLst>
              <a:gd name="adj" fmla="val 932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4616946" y="3509814"/>
            <a:ext cx="40929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RAGパイプライン概念図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616946" y="3738414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4815257" y="3868936"/>
            <a:ext cx="1748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文書</a:t>
            </a:r>
            <a:endParaRPr lang="en-US" sz="675" dirty="0"/>
          </a:p>
        </p:txBody>
      </p:sp>
      <p:sp>
        <p:nvSpPr>
          <p:cNvPr id="62" name="Text 59"/>
          <p:cNvSpPr/>
          <p:nvPr/>
        </p:nvSpPr>
        <p:spPr>
          <a:xfrm>
            <a:off x="4611231" y="4157514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5399931" y="3894534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5763816" y="3738414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918406" y="3868936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</a:t>
            </a:r>
            <a:endParaRPr lang="en-US" sz="675" dirty="0"/>
          </a:p>
        </p:txBody>
      </p:sp>
      <p:sp>
        <p:nvSpPr>
          <p:cNvPr id="66" name="Text 63"/>
          <p:cNvSpPr/>
          <p:nvPr/>
        </p:nvSpPr>
        <p:spPr>
          <a:xfrm>
            <a:off x="5758101" y="4157514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Feast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6546800" y="3894534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910685" y="3738414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EC4899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7108996" y="3868936"/>
            <a:ext cx="1748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</a:t>
            </a:r>
            <a:endParaRPr lang="en-US" sz="675" dirty="0"/>
          </a:p>
        </p:txBody>
      </p:sp>
      <p:sp>
        <p:nvSpPr>
          <p:cNvPr id="70" name="Text 67"/>
          <p:cNvSpPr/>
          <p:nvPr/>
        </p:nvSpPr>
        <p:spPr>
          <a:xfrm>
            <a:off x="6904970" y="4157514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7693670" y="3894534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8057555" y="3738414"/>
            <a:ext cx="571500" cy="381000"/>
          </a:xfrm>
          <a:prstGeom prst="roundRect">
            <a:avLst>
              <a:gd name="adj" fmla="val 15000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8258144" y="3868936"/>
            <a:ext cx="1701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675" dirty="0"/>
          </a:p>
        </p:txBody>
      </p:sp>
      <p:sp>
        <p:nvSpPr>
          <p:cNvPr id="74" name="Text 71"/>
          <p:cNvSpPr/>
          <p:nvPr/>
        </p:nvSpPr>
        <p:spPr>
          <a:xfrm>
            <a:off x="8051840" y="4157514"/>
            <a:ext cx="5829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381000" y="4743450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Tencent等の大手企業でStarRocksのベクトル検索を活用中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33122" y="190500"/>
            <a:ext cx="929878" cy="266700"/>
          </a:xfrm>
          <a:prstGeom prst="roundRect">
            <a:avLst>
              <a:gd name="adj" fmla="val 57143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75997" y="257175"/>
            <a:ext cx="657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 4/8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5300" y="3429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266700"/>
            <a:ext cx="1662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AI運用・監視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3900" y="590550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AIワークロードの可観測性・パフォーマンス・エネルギー効率を管理</a:t>
            </a:r>
            <a:endParaRPr lang="en-US" sz="900" dirty="0"/>
          </a:p>
        </p:txBody>
      </p:sp>
      <p:pic>
        <p:nvPicPr>
          <p:cNvPr id="8" name="Image 0" descr="/tmp/rasterized-gradient-fee863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31590"/>
            <a:ext cx="4118223" cy="28688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1975" y="1712565"/>
            <a:ext cx="197270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OpenTelemetry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1975" y="1990576"/>
            <a:ext cx="1972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分散トレーシング・メトリクス・ログの標準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889623" y="1712565"/>
            <a:ext cx="428625" cy="177105"/>
          </a:xfrm>
          <a:prstGeom prst="roundRect">
            <a:avLst>
              <a:gd name="adj" fmla="val 5378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984873" y="1741140"/>
            <a:ext cx="2428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CNCF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561975" y="2238226"/>
            <a:ext cx="3756273" cy="68580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76275" y="2352526"/>
            <a:ext cx="3598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生成AIセマンティック規約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76275" y="2543026"/>
            <a:ext cx="35982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LLM呼び出し、プロンプト、レスポンス、ツール実行などを表現するスキーマを提供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61975" y="3019276"/>
            <a:ext cx="3756273" cy="552450"/>
          </a:xfrm>
          <a:prstGeom prst="roundRect">
            <a:avLst>
              <a:gd name="adj" fmla="val 1379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76275" y="3133576"/>
            <a:ext cx="3598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AIエージェント可観測性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76275" y="3324076"/>
            <a:ext cx="3598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複数エージェント・ツールチェーンをまたぐ処理フローをトレース可能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61975" y="3666976"/>
            <a:ext cx="3756273" cy="552450"/>
          </a:xfrm>
          <a:prstGeom prst="roundRect">
            <a:avLst>
              <a:gd name="adj" fmla="val 1379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6275" y="3781276"/>
            <a:ext cx="3598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ベンダー中立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76275" y="3971776"/>
            <a:ext cx="3598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GCP、Azure、AWS、OSSツールと連携可能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651623" y="1533674"/>
            <a:ext cx="4111377" cy="1051322"/>
          </a:xfrm>
          <a:prstGeom prst="roundRect">
            <a:avLst>
              <a:gd name="adj" fmla="val 906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665911" y="1533674"/>
            <a:ext cx="0" cy="105132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4832598" y="1686074"/>
            <a:ext cx="7502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monocle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4527" y="1732657"/>
            <a:ext cx="4957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AI &amp; Data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832598" y="1994595"/>
            <a:ext cx="38535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GenAIアプリケーションのトレーシングと観測性向上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32598" y="2236440"/>
            <a:ext cx="875705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27848" y="2274540"/>
            <a:ext cx="6989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LLM呼び出し追跡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765453" y="2236440"/>
            <a:ext cx="923776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60703" y="2274540"/>
            <a:ext cx="7479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ベクトルDBクエリ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6746379" y="2236440"/>
            <a:ext cx="704850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841629" y="2274540"/>
            <a:ext cx="5246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依存関係分析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508379" y="2236440"/>
            <a:ext cx="633561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603629" y="2274540"/>
            <a:ext cx="4519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RAG最適化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4651623" y="2699296"/>
            <a:ext cx="4111377" cy="1051322"/>
          </a:xfrm>
          <a:prstGeom prst="roundRect">
            <a:avLst>
              <a:gd name="adj" fmla="val 906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665911" y="2699296"/>
            <a:ext cx="0" cy="1051322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4"/>
          <p:cNvSpPr/>
          <p:nvPr/>
        </p:nvSpPr>
        <p:spPr>
          <a:xfrm>
            <a:off x="4832598" y="2851696"/>
            <a:ext cx="7502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Kepler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908727" y="2898279"/>
            <a:ext cx="7159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サステナビリティ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4832598" y="3160216"/>
            <a:ext cx="38535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Kubernetes上での電力消費量を推定・エクスポート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32598" y="3402062"/>
            <a:ext cx="652611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927848" y="3440162"/>
            <a:ext cx="4713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ML電力推定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5542359" y="3402062"/>
            <a:ext cx="700236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637609" y="3440162"/>
            <a:ext cx="5199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AI電力可視化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6299746" y="3402062"/>
            <a:ext cx="884337" cy="196155"/>
          </a:xfrm>
          <a:prstGeom prst="roundRect">
            <a:avLst>
              <a:gd name="adj" fmla="val 1942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394996" y="3440162"/>
            <a:ext cx="7077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エネルギー最適化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4651623" y="3864918"/>
            <a:ext cx="4111377" cy="533400"/>
          </a:xfrm>
          <a:prstGeom prst="roundRect">
            <a:avLst>
              <a:gd name="adj" fmla="val 14286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775448" y="3988743"/>
            <a:ext cx="3941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ポイント:</a:t>
            </a: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OpenTelemetry + monocle でGenAI特化の可観測性を実現。Keplerで電力コストも可視化。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381000" y="4743450"/>
            <a:ext cx="2253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AIワークロードの本番運用には可観測性が不可欠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257175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57150" cy="2571750"/>
          </a:xfrm>
          <a:prstGeom prst="rect">
            <a:avLst/>
          </a:prstGeom>
          <a:solidFill>
            <a:srgbClr val="84CC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48439" y="190500"/>
            <a:ext cx="1014561" cy="266700"/>
          </a:xfrm>
          <a:prstGeom prst="roundRect">
            <a:avLst>
              <a:gd name="adj" fmla="val 57143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91314" y="257175"/>
            <a:ext cx="7433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 5-6/8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266700"/>
            <a:ext cx="42262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エッジAI / AI統合開発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5300" y="571500"/>
            <a:ext cx="8433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エッジデバイスでのAI実行と、開発者ポータルでのAI機能統合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27828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245989"/>
            <a:ext cx="474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エッジAI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1653629"/>
            <a:ext cx="3950196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1653629"/>
            <a:ext cx="0" cy="89713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2925" y="1786979"/>
            <a:ext cx="8394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EdgeLake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73698" y="1820317"/>
            <a:ext cx="3306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Edge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42925" y="2030760"/>
            <a:ext cx="3728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エッジデータ管理とネットワークオートメーション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2925" y="2240310"/>
            <a:ext cx="900708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268885"/>
            <a:ext cx="763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481733" y="2240310"/>
            <a:ext cx="850255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7933" y="2268885"/>
            <a:ext cx="7118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リアルタイム分析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370088" y="2240310"/>
            <a:ext cx="93598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46288" y="2268885"/>
            <a:ext cx="7992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自動化パイプライン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1000" y="2798415"/>
            <a:ext cx="3950196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2798415"/>
            <a:ext cx="0" cy="89713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2924" y="2931765"/>
            <a:ext cx="7049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eKuiper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73698" y="2965103"/>
            <a:ext cx="3306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Edge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42925" y="3175546"/>
            <a:ext cx="3728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IoTエッジ向け軽量ストリーム処理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2925" y="3385096"/>
            <a:ext cx="590699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125" y="3413671"/>
            <a:ext cx="4470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 Lite統合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1171724" y="3385096"/>
            <a:ext cx="56227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47924" y="3413671"/>
            <a:ext cx="4180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ML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1772096" y="3385096"/>
            <a:ext cx="64308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48296" y="3413671"/>
            <a:ext cx="5005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IIoT予測分析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81000" y="3943201"/>
            <a:ext cx="3950196" cy="691455"/>
          </a:xfrm>
          <a:prstGeom prst="roundRect">
            <a:avLst>
              <a:gd name="adj" fmla="val 1102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5300" y="4057501"/>
            <a:ext cx="3796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連合学習フロー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1050875" y="4257526"/>
            <a:ext cx="614958" cy="258961"/>
          </a:xfrm>
          <a:prstGeom prst="roundRect">
            <a:avLst>
              <a:gd name="adj" fmla="val 22069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61312" y="4333726"/>
            <a:ext cx="394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エッジ学習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742033" y="42536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008733" y="4257526"/>
            <a:ext cx="692944" cy="258961"/>
          </a:xfrm>
          <a:prstGeom prst="roundRect">
            <a:avLst>
              <a:gd name="adj" fmla="val 22069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18390" y="4333726"/>
            <a:ext cx="4736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クラウド統合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777877" y="42536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044577" y="4257526"/>
            <a:ext cx="616744" cy="258961"/>
          </a:xfrm>
          <a:prstGeom prst="roundRect">
            <a:avLst>
              <a:gd name="adj" fmla="val 22069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54996" y="4333726"/>
            <a:ext cx="39590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再デプロイ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483596" y="124584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84CC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55046" y="1213545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AI統合開発</a:t>
            </a:r>
            <a:endParaRPr lang="en-US" sz="900" dirty="0"/>
          </a:p>
        </p:txBody>
      </p:sp>
      <p:pic>
        <p:nvPicPr>
          <p:cNvPr id="44" name="Image 0" descr="/tmp/rasterized-gradient-77d157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596" y="1621185"/>
            <a:ext cx="4279404" cy="131043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4645521" y="1783110"/>
            <a:ext cx="9973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Backstage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645521" y="2015430"/>
            <a:ext cx="99735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Spotify発 開発者ポータル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8129439" y="1870621"/>
            <a:ext cx="471636" cy="177105"/>
          </a:xfrm>
          <a:prstGeom prst="roundRect">
            <a:avLst>
              <a:gd name="adj" fmla="val 53782"/>
            </a:avLst>
          </a:prstGeom>
          <a:solidFill>
            <a:srgbClr val="84CC16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8224689" y="1899196"/>
            <a:ext cx="2867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注目</a:t>
            </a:r>
            <a:endParaRPr lang="en-US" sz="675" dirty="0"/>
          </a:p>
        </p:txBody>
      </p:sp>
      <p:sp>
        <p:nvSpPr>
          <p:cNvPr id="49" name="Text 46"/>
          <p:cNvSpPr/>
          <p:nvPr/>
        </p:nvSpPr>
        <p:spPr>
          <a:xfrm>
            <a:off x="4645521" y="2211586"/>
            <a:ext cx="40346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開発者ポータル構築フレームワーク。RAG AI Pluginで自社ドキュメントに基づくQ&amp;Aを実現。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45521" y="2592586"/>
            <a:ext cx="700385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721721" y="2621161"/>
            <a:ext cx="5589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AI Plugin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5393531" y="2592586"/>
            <a:ext cx="647998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469731" y="2621161"/>
            <a:ext cx="5055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API連携</a:t>
            </a:r>
            <a:endParaRPr lang="en-US" sz="675" dirty="0"/>
          </a:p>
        </p:txBody>
      </p:sp>
      <p:sp>
        <p:nvSpPr>
          <p:cNvPr id="54" name="Text 51"/>
          <p:cNvSpPr/>
          <p:nvPr/>
        </p:nvSpPr>
        <p:spPr>
          <a:xfrm>
            <a:off x="6089154" y="2592586"/>
            <a:ext cx="70023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6165354" y="2621161"/>
            <a:ext cx="5587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TechDocs検索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6837015" y="2592586"/>
            <a:ext cx="84162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913215" y="2621161"/>
            <a:ext cx="7030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メタデータAI生成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4483596" y="3179266"/>
            <a:ext cx="4279404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4497884" y="3179266"/>
            <a:ext cx="0" cy="897136"/>
          </a:xfrm>
          <a:prstGeom prst="line">
            <a:avLst/>
          </a:prstGeom>
          <a:noFill/>
          <a:ln w="28575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7"/>
          <p:cNvSpPr/>
          <p:nvPr/>
        </p:nvSpPr>
        <p:spPr>
          <a:xfrm>
            <a:off x="4645521" y="3312616"/>
            <a:ext cx="8471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Konveyor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8315027" y="3345954"/>
            <a:ext cx="3209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</a:t>
            </a:r>
            <a:endParaRPr lang="en-US" sz="675" dirty="0"/>
          </a:p>
        </p:txBody>
      </p:sp>
      <p:sp>
        <p:nvSpPr>
          <p:cNvPr id="62" name="Text 59"/>
          <p:cNvSpPr/>
          <p:nvPr/>
        </p:nvSpPr>
        <p:spPr>
          <a:xfrm>
            <a:off x="4645521" y="3556397"/>
            <a:ext cx="4063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アプリケーションモダナイゼーション支援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645521" y="3765947"/>
            <a:ext cx="49530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4721721" y="3794522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静的解析</a:t>
            </a:r>
            <a:endParaRPr lang="en-US" sz="675" dirty="0"/>
          </a:p>
        </p:txBody>
      </p:sp>
      <p:sp>
        <p:nvSpPr>
          <p:cNvPr id="65" name="Text 62"/>
          <p:cNvSpPr/>
          <p:nvPr/>
        </p:nvSpPr>
        <p:spPr>
          <a:xfrm>
            <a:off x="5178921" y="3765947"/>
            <a:ext cx="752475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5255121" y="3794522"/>
            <a:ext cx="6120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移行難易度分析</a:t>
            </a:r>
            <a:endParaRPr lang="en-US" sz="675" dirty="0"/>
          </a:p>
        </p:txBody>
      </p:sp>
      <p:sp>
        <p:nvSpPr>
          <p:cNvPr id="67" name="Text 64"/>
          <p:cNvSpPr/>
          <p:nvPr/>
        </p:nvSpPr>
        <p:spPr>
          <a:xfrm>
            <a:off x="5969496" y="3765947"/>
            <a:ext cx="747861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045696" y="3794522"/>
            <a:ext cx="6073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将来AI支援予定</a:t>
            </a:r>
            <a:endParaRPr lang="en-US" sz="675" dirty="0"/>
          </a:p>
        </p:txBody>
      </p:sp>
      <p:sp>
        <p:nvSpPr>
          <p:cNvPr id="69" name="Text 66"/>
          <p:cNvSpPr/>
          <p:nvPr/>
        </p:nvSpPr>
        <p:spPr>
          <a:xfrm>
            <a:off x="4483596" y="4324052"/>
            <a:ext cx="4279404" cy="342900"/>
          </a:xfrm>
          <a:prstGeom prst="roundRect">
            <a:avLst>
              <a:gd name="adj" fmla="val 22222"/>
            </a:avLst>
          </a:prstGeom>
          <a:solidFill>
            <a:srgbClr val="84CC16">
              <a:alpha val="10000"/>
            </a:srgbClr>
          </a:solidFill>
          <a:ln w="9525">
            <a:solidFill>
              <a:srgbClr val="84CC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4607421" y="4428827"/>
            <a:ext cx="4112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Backstageは開発者体験向上の中核。AI統合で社内ナレッジの活用が加速。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381000" y="4743450"/>
            <a:ext cx="27053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LF Edgeプロジェクトでエッジ/IoT領域のAI標準化が進行中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257175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57150" cy="25717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48439" y="190500"/>
            <a:ext cx="1014561" cy="266700"/>
          </a:xfrm>
          <a:prstGeom prst="roundRect">
            <a:avLst>
              <a:gd name="adj" fmla="val 57143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91314" y="257175"/>
            <a:ext cx="7433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カテゴリー 7-8/8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266700"/>
            <a:ext cx="47703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AIガバナンス・コスト / ネットワーク×AI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5300" y="571500"/>
            <a:ext cx="8433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AIの適切な運用管理とネットワーク領域でのAI活用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31534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283047"/>
            <a:ext cx="1187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AIガバナンス・コスト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1690688"/>
            <a:ext cx="4114800" cy="897136"/>
          </a:xfrm>
          <a:prstGeom prst="roundRect">
            <a:avLst>
              <a:gd name="adj" fmla="val 10617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1690688"/>
            <a:ext cx="0" cy="897136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2924" y="1824038"/>
            <a:ext cx="157110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Policy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24325" y="1857375"/>
            <a:ext cx="2428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CNCF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42925" y="2067818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クラウドネイティブ環境のポリシーエンジン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2925" y="2277368"/>
            <a:ext cx="753814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305943"/>
            <a:ext cx="6134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AI利用ポリシー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334839" y="2277368"/>
            <a:ext cx="93598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11039" y="2305943"/>
            <a:ext cx="7992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データアクセス制御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308920" y="2277368"/>
            <a:ext cx="52878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85120" y="2305943"/>
            <a:ext cx="3839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Rego言語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875806" y="2277368"/>
            <a:ext cx="86067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52006" y="2305943"/>
            <a:ext cx="7224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RAGガードレール</a:t>
            </a:r>
            <a:endParaRPr lang="en-US" sz="675" dirty="0"/>
          </a:p>
        </p:txBody>
      </p:sp>
      <p:pic>
        <p:nvPicPr>
          <p:cNvPr id="23" name="Image 0" descr="/tmp/rasterized-gradient-ef548d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35473"/>
            <a:ext cx="4114800" cy="176212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3875" y="2978348"/>
            <a:ext cx="174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FinOps Foundation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3641973" y="2989808"/>
            <a:ext cx="710952" cy="177105"/>
          </a:xfrm>
          <a:prstGeom prst="roundRect">
            <a:avLst>
              <a:gd name="adj" fmla="val 53782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737223" y="3018383"/>
            <a:ext cx="5308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コスト最適化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523875" y="3254573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クラウドコスト最適化のベストプラクティス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23875" y="3483173"/>
            <a:ext cx="3829050" cy="28575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125" y="359747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52475" y="3559373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for AI:</a:t>
            </a: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GPU/LLM APIコスト管理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23875" y="3826073"/>
            <a:ext cx="3829050" cy="28575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9125" y="394037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52475" y="3902273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マルチクラウドコスト標準化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23875" y="4168973"/>
            <a:ext cx="3829050" cy="28575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19125" y="428327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52475" y="4245173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ROI評価:</a:t>
            </a: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AIプロジェクト効率化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648200" y="113823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19650" y="1105942"/>
            <a:ext cx="8979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ネットワーク×AI</a:t>
            </a:r>
            <a:endParaRPr lang="en-US" sz="900" dirty="0"/>
          </a:p>
        </p:txBody>
      </p:sp>
      <p:pic>
        <p:nvPicPr>
          <p:cNvPr id="39" name="Image 1" descr="/tmp/rasterized-gradient-442b56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513582"/>
            <a:ext cx="4114800" cy="1723876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810125" y="1675507"/>
            <a:ext cx="13473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LF</a:t>
            </a:r>
            <a:r>
              <a:rPr lang="ja-JP" alt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　</a:t>
            </a: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7910215" y="1693515"/>
            <a:ext cx="690860" cy="177105"/>
          </a:xfrm>
          <a:prstGeom prst="roundRect">
            <a:avLst>
              <a:gd name="adj" fmla="val 53782"/>
            </a:avLst>
          </a:prstGeom>
          <a:solidFill>
            <a:srgbClr val="06B6D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8005465" y="1722090"/>
            <a:ext cx="5103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Essedum 1.0</a:t>
            </a:r>
            <a:endParaRPr lang="en-US" sz="675" dirty="0"/>
          </a:p>
        </p:txBody>
      </p:sp>
      <p:sp>
        <p:nvSpPr>
          <p:cNvPr id="43" name="Text 39"/>
          <p:cNvSpPr/>
          <p:nvPr/>
        </p:nvSpPr>
        <p:spPr>
          <a:xfrm>
            <a:off x="4810125" y="1964978"/>
            <a:ext cx="386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ネットワーク自動化とオーケストレーション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4810125" y="2193578"/>
            <a:ext cx="3790950" cy="628650"/>
          </a:xfrm>
          <a:prstGeom prst="roundRect">
            <a:avLst>
              <a:gd name="adj" fmla="val 1212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905375" y="2288828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Essedum 1.0 (2024年発表)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905375" y="246027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AIネイティブなネットワークアプリ向けコアプラットフォーム。データパイプライン・モデル管理・マルチプラットフォーム展開を提供。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4810125" y="2898428"/>
            <a:ext cx="1072158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886325" y="2927003"/>
            <a:ext cx="9381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AI/MLネットワーク制御</a:t>
            </a:r>
            <a:endParaRPr lang="en-US" sz="675" dirty="0"/>
          </a:p>
        </p:txBody>
      </p:sp>
      <p:sp>
        <p:nvSpPr>
          <p:cNvPr id="49" name="Text 45"/>
          <p:cNvSpPr/>
          <p:nvPr/>
        </p:nvSpPr>
        <p:spPr>
          <a:xfrm>
            <a:off x="5929908" y="2898428"/>
            <a:ext cx="566886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6006108" y="2927003"/>
            <a:ext cx="4227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ONAP連携</a:t>
            </a:r>
            <a:endParaRPr lang="en-US" sz="675" dirty="0"/>
          </a:p>
        </p:txBody>
      </p:sp>
      <p:sp>
        <p:nvSpPr>
          <p:cNvPr id="51" name="Text 47"/>
          <p:cNvSpPr/>
          <p:nvPr/>
        </p:nvSpPr>
        <p:spPr>
          <a:xfrm>
            <a:off x="6544419" y="2898428"/>
            <a:ext cx="1023789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620619" y="2927003"/>
            <a:ext cx="8888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インテントベース運用</a:t>
            </a:r>
            <a:endParaRPr lang="en-US" sz="675" dirty="0"/>
          </a:p>
        </p:txBody>
      </p:sp>
      <p:sp>
        <p:nvSpPr>
          <p:cNvPr id="53" name="Text 49"/>
          <p:cNvSpPr/>
          <p:nvPr/>
        </p:nvSpPr>
        <p:spPr>
          <a:xfrm>
            <a:off x="4648200" y="3485108"/>
            <a:ext cx="4114800" cy="699046"/>
          </a:xfrm>
          <a:prstGeom prst="roundRect">
            <a:avLst>
              <a:gd name="adj" fmla="val 1090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0"/>
          <p:cNvSpPr/>
          <p:nvPr/>
        </p:nvSpPr>
        <p:spPr>
          <a:xfrm>
            <a:off x="4662488" y="3485108"/>
            <a:ext cx="0" cy="699046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1"/>
          <p:cNvSpPr/>
          <p:nvPr/>
        </p:nvSpPr>
        <p:spPr>
          <a:xfrm>
            <a:off x="4791075" y="3599408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ONAP (Open Network Automation Platform)</a:t>
            </a:r>
            <a:endParaRPr lang="en-US" sz="825" dirty="0"/>
          </a:p>
        </p:txBody>
      </p:sp>
      <p:sp>
        <p:nvSpPr>
          <p:cNvPr id="56" name="Text 52"/>
          <p:cNvSpPr/>
          <p:nvPr/>
        </p:nvSpPr>
        <p:spPr>
          <a:xfrm>
            <a:off x="4791075" y="3803154"/>
            <a:ext cx="39347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ポリシーベース制御とAI/ML連携。トラフィック予測、障害検知を自動化。将来的にGenAI/LLMを活用したインテントベース運用へ。</a:t>
            </a:r>
            <a:endParaRPr lang="en-US" sz="750" dirty="0"/>
          </a:p>
        </p:txBody>
      </p:sp>
      <p:sp>
        <p:nvSpPr>
          <p:cNvPr id="57" name="Text 53"/>
          <p:cNvSpPr/>
          <p:nvPr/>
        </p:nvSpPr>
        <p:spPr>
          <a:xfrm>
            <a:off x="4648200" y="4431804"/>
            <a:ext cx="4114800" cy="342900"/>
          </a:xfrm>
          <a:prstGeom prst="roundRect">
            <a:avLst>
              <a:gd name="adj" fmla="val 22222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4772025" y="453657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ネットワーク運用の自律化・インテリジェント化が次のフロンティア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381000" y="4743450"/>
            <a:ext cx="2868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AIガバナンスはセキュリティ・コンプライアンスの観点で必須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eb27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6535" y="190500"/>
            <a:ext cx="766465" cy="266700"/>
          </a:xfrm>
          <a:prstGeom prst="roundRect">
            <a:avLst>
              <a:gd name="adj" fmla="val 57143"/>
            </a:avLst>
          </a:prstGeom>
          <a:solidFill>
            <a:srgbClr val="A0A0B0">
              <a:alpha val="15000"/>
            </a:srgbClr>
          </a:solidFill>
          <a:ln w="9525">
            <a:solidFill>
              <a:srgbClr val="A0A0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139410" y="257175"/>
            <a:ext cx="490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関連ツール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5300" y="266700"/>
            <a:ext cx="2782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その他のAI関連ツール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95300" y="590550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直接的なAI機能は限定的だが、AIエコシステムを支える重要なツール</a:t>
            </a:r>
            <a:endParaRPr lang="en-US" sz="900" dirty="0"/>
          </a:p>
        </p:txBody>
      </p:sp>
      <p:pic>
        <p:nvPicPr>
          <p:cNvPr id="7" name="Image 1" descr="/tmp/rasterized-gradient-adbfdb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11660"/>
            <a:ext cx="4095750" cy="2708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1975" y="1792635"/>
            <a:ext cx="31375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 Software Foundation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61975" y="2070646"/>
            <a:ext cx="2318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映画・メディア業界向けOSS支援組織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61975" y="2318296"/>
            <a:ext cx="3733800" cy="596205"/>
          </a:xfrm>
          <a:prstGeom prst="roundRect">
            <a:avLst>
              <a:gd name="adj" fmla="val 1278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6275" y="2432596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ホストプロジェクト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275" y="2623096"/>
            <a:ext cx="657523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52475" y="2651671"/>
            <a:ext cx="515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OpenColorIO</a:t>
            </a:r>
            <a:endParaRPr lang="en-US" sz="675" dirty="0"/>
          </a:p>
        </p:txBody>
      </p:sp>
      <p:sp>
        <p:nvSpPr>
          <p:cNvPr id="14" name="Text 10"/>
          <p:cNvSpPr/>
          <p:nvPr/>
        </p:nvSpPr>
        <p:spPr>
          <a:xfrm>
            <a:off x="1371898" y="2623096"/>
            <a:ext cx="53846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448098" y="2651671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OpenVDB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1948458" y="2623096"/>
            <a:ext cx="514499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024658" y="2651671"/>
            <a:ext cx="3693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MaterialX</a:t>
            </a:r>
            <a:endParaRPr lang="en-US" sz="675" dirty="0"/>
          </a:p>
        </p:txBody>
      </p:sp>
      <p:sp>
        <p:nvSpPr>
          <p:cNvPr id="18" name="Text 14"/>
          <p:cNvSpPr/>
          <p:nvPr/>
        </p:nvSpPr>
        <p:spPr>
          <a:xfrm>
            <a:off x="2501057" y="2623096"/>
            <a:ext cx="562124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577257" y="2651671"/>
            <a:ext cx="4179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OpenQMC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561975" y="3009751"/>
            <a:ext cx="3733800" cy="704850"/>
          </a:xfrm>
          <a:prstGeom prst="roundRect">
            <a:avLst>
              <a:gd name="adj" fmla="val 108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76275" y="3124051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AIとの関係性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676275" y="3314551"/>
            <a:ext cx="3575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AI/MLを活用したノイズ除去、アップスケーリング、シミュレーション最適化などポストプロダクション領域でAI技術と密接に連携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61975" y="3809851"/>
            <a:ext cx="3733800" cy="329505"/>
          </a:xfrm>
          <a:prstGeom prst="roundRect">
            <a:avLst>
              <a:gd name="adj" fmla="val 17344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66750" y="3914626"/>
            <a:ext cx="35947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Apple、Netflix等の大手企業が参加</a:t>
            </a:r>
            <a:endParaRPr lang="en-US" sz="675" dirty="0"/>
          </a:p>
        </p:txBody>
      </p:sp>
      <p:pic>
        <p:nvPicPr>
          <p:cNvPr id="25" name="Image 2" descr="/tmp/rasterized-gradient-ef8546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1611660"/>
            <a:ext cx="4095750" cy="27086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8225" y="1792635"/>
            <a:ext cx="15907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LitmusChaos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4848225" y="2070646"/>
            <a:ext cx="1590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Kubernetesカオスエンジニアリング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8343900" y="1792635"/>
            <a:ext cx="2428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CNCF</a:t>
            </a:r>
            <a:endParaRPr lang="en-US" sz="675" dirty="0"/>
          </a:p>
        </p:txBody>
      </p:sp>
      <p:sp>
        <p:nvSpPr>
          <p:cNvPr id="29" name="Text 24"/>
          <p:cNvSpPr/>
          <p:nvPr/>
        </p:nvSpPr>
        <p:spPr>
          <a:xfrm>
            <a:off x="4848225" y="2318296"/>
            <a:ext cx="3733800" cy="596205"/>
          </a:xfrm>
          <a:prstGeom prst="roundRect">
            <a:avLst>
              <a:gd name="adj" fmla="val 1278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962525" y="2432596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主な機能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962525" y="2623096"/>
            <a:ext cx="495300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038725" y="2651671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障害注入</a:t>
            </a:r>
            <a:endParaRPr lang="en-US" sz="675" dirty="0"/>
          </a:p>
        </p:txBody>
      </p:sp>
      <p:sp>
        <p:nvSpPr>
          <p:cNvPr id="33" name="Text 28"/>
          <p:cNvSpPr/>
          <p:nvPr/>
        </p:nvSpPr>
        <p:spPr>
          <a:xfrm>
            <a:off x="5495925" y="2623096"/>
            <a:ext cx="672852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572125" y="2651671"/>
            <a:ext cx="5308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回復性テスト</a:t>
            </a:r>
            <a:endParaRPr lang="en-US" sz="675" dirty="0"/>
          </a:p>
        </p:txBody>
      </p:sp>
      <p:sp>
        <p:nvSpPr>
          <p:cNvPr id="35" name="Text 30"/>
          <p:cNvSpPr/>
          <p:nvPr/>
        </p:nvSpPr>
        <p:spPr>
          <a:xfrm>
            <a:off x="6206877" y="2623096"/>
            <a:ext cx="849064" cy="177105"/>
          </a:xfrm>
          <a:prstGeom prst="roundRect">
            <a:avLst>
              <a:gd name="adj" fmla="val 21513"/>
            </a:avLst>
          </a:prstGeom>
          <a:solidFill>
            <a:srgbClr val="2D2D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283077" y="2651671"/>
            <a:ext cx="7105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k6負荷テスト統合</a:t>
            </a:r>
            <a:endParaRPr lang="en-US" sz="675" dirty="0"/>
          </a:p>
        </p:txBody>
      </p:sp>
      <p:sp>
        <p:nvSpPr>
          <p:cNvPr id="37" name="Text 32"/>
          <p:cNvSpPr/>
          <p:nvPr/>
        </p:nvSpPr>
        <p:spPr>
          <a:xfrm>
            <a:off x="4848225" y="3009751"/>
            <a:ext cx="3733800" cy="704850"/>
          </a:xfrm>
          <a:prstGeom prst="roundRect">
            <a:avLst>
              <a:gd name="adj" fmla="val 108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962525" y="3124051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AIとの関係性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4962525" y="3314551"/>
            <a:ext cx="3575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AIワークロードの回復性テストに活用可能。将来的にAIを用いた障害パターン予測やテストケース自動生成への応用も期待。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4848225" y="3809851"/>
            <a:ext cx="3733800" cy="329505"/>
          </a:xfrm>
          <a:prstGeom prst="roundRect">
            <a:avLst>
              <a:gd name="adj" fmla="val 17344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4953000" y="3914626"/>
            <a:ext cx="35947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AIサービスの本番運用には信頼性テストが不可欠</a:t>
            </a:r>
            <a:endParaRPr lang="en-US" sz="675" dirty="0"/>
          </a:p>
        </p:txBody>
      </p:sp>
      <p:sp>
        <p:nvSpPr>
          <p:cNvPr id="42" name="Text 37"/>
          <p:cNvSpPr/>
          <p:nvPr/>
        </p:nvSpPr>
        <p:spPr>
          <a:xfrm>
            <a:off x="381000" y="4743450"/>
            <a:ext cx="30367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AI技術の普及に伴い、これらツールのAI関連機能拡張が期待される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0018f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0" y="2952750"/>
            <a:ext cx="1428750" cy="1428750"/>
          </a:xfrm>
          <a:prstGeom prst="roundRect">
            <a:avLst>
              <a:gd name="adj" fmla="val 64000"/>
            </a:avLst>
          </a:prstGeom>
          <a:noFill/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429500" y="3238500"/>
            <a:ext cx="762000" cy="762000"/>
          </a:xfrm>
          <a:prstGeom prst="roundRect">
            <a:avLst>
              <a:gd name="adj" fmla="val 120000"/>
            </a:avLst>
          </a:prstGeom>
          <a:noFill/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2667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</a:t>
            </a:r>
            <a:endParaRPr lang="en-US" sz="2400" dirty="0"/>
          </a:p>
        </p:txBody>
      </p:sp>
      <p:pic>
        <p:nvPicPr>
          <p:cNvPr id="6" name="Image 1" descr="/tmp/rasterized-gradient-56967a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47800"/>
            <a:ext cx="4484340" cy="10666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1975" y="1628775"/>
            <a:ext cx="42048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調査結果の核心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61975" y="1937296"/>
            <a:ext cx="420483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Landscape登録の24ツール/組織すべてが、直接的または間接的にAI機能を搭載・AI関連の取り組みを実施しています。</a:t>
            </a: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381000" y="2628751"/>
            <a:ext cx="4484340" cy="533400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14350" y="274305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33413" y="2802136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33450" y="2822079"/>
            <a:ext cx="28697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AI民主化</a:t>
            </a:r>
            <a:r>
              <a:rPr lang="en-US" sz="82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オープンソースによりAI技術へのアクセスが拡大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381000" y="3238351"/>
            <a:ext cx="4484340" cy="533400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14350" y="335265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33413" y="3411736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33450" y="3431679"/>
            <a:ext cx="28162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標準化推進</a:t>
            </a:r>
            <a:r>
              <a:rPr lang="en-US" sz="82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OpenTelemetry等でAI可観測性の標準が形成中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381000" y="3847951"/>
            <a:ext cx="4484340" cy="533400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14350" y="396225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33413" y="4021336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33450" y="4041279"/>
            <a:ext cx="2883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エコシステム拡大</a:t>
            </a:r>
            <a:r>
              <a:rPr lang="en-US" sz="825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開発からガバナンスまで全領域をカバー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5093940" y="1720304"/>
            <a:ext cx="37424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8カテゴリー全体像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093940" y="2114550"/>
            <a:ext cx="180588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189190" y="22288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303490" y="2190750"/>
            <a:ext cx="5776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AI開発・学習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6751588" y="21907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6956971" y="2114550"/>
            <a:ext cx="1806029" cy="285750"/>
          </a:xfrm>
          <a:prstGeom prst="roundRect">
            <a:avLst>
              <a:gd name="adj" fmla="val 20000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052221" y="22288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166521" y="2190750"/>
            <a:ext cx="490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データ処理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8614767" y="21907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093940" y="2457450"/>
            <a:ext cx="1805880" cy="285750"/>
          </a:xfrm>
          <a:prstGeom prst="roundRect">
            <a:avLst>
              <a:gd name="adj" fmla="val 20000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189190" y="25717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303490" y="2533650"/>
            <a:ext cx="5776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AI運用・監視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6751588" y="25336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6956971" y="2457450"/>
            <a:ext cx="1806029" cy="285750"/>
          </a:xfrm>
          <a:prstGeom prst="roundRect">
            <a:avLst>
              <a:gd name="adj" fmla="val 20000"/>
            </a:avLst>
          </a:prstGeom>
          <a:solidFill>
            <a:srgbClr val="EC4899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7052221" y="25717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166521" y="2533650"/>
            <a:ext cx="593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AI検索・RAG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8614767" y="25336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5093940" y="2800350"/>
            <a:ext cx="1805880" cy="285750"/>
          </a:xfrm>
          <a:prstGeom prst="roundRect">
            <a:avLst>
              <a:gd name="adj" fmla="val 20000"/>
            </a:avLst>
          </a:prstGeom>
          <a:solidFill>
            <a:srgbClr val="84CC1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189190" y="2914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84CC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303490" y="2876550"/>
            <a:ext cx="480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AI統合開発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6751588" y="2876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6956971" y="2800350"/>
            <a:ext cx="1806029" cy="285750"/>
          </a:xfrm>
          <a:prstGeom prst="roundRect">
            <a:avLst>
              <a:gd name="adj" fmla="val 2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7052221" y="2914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7166521" y="2876550"/>
            <a:ext cx="390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エッジAI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8614767" y="2876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093940" y="3143250"/>
            <a:ext cx="1805880" cy="285750"/>
          </a:xfrm>
          <a:prstGeom prst="roundRect">
            <a:avLst>
              <a:gd name="adj" fmla="val 20000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189190" y="32575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303490" y="3219450"/>
            <a:ext cx="497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ガバナンス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6751588" y="32194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956971" y="3143250"/>
            <a:ext cx="1806029" cy="285750"/>
          </a:xfrm>
          <a:prstGeom prst="roundRect">
            <a:avLst>
              <a:gd name="adj" fmla="val 20000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7052221" y="32575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7166521" y="3219450"/>
            <a:ext cx="594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ネットワーク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8614767" y="32194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pic>
        <p:nvPicPr>
          <p:cNvPr id="54" name="Image 2" descr="/tmp/rasterized-gradient-369b33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940" y="3695700"/>
            <a:ext cx="3669060" cy="413296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5193267" y="3829050"/>
            <a:ext cx="3470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オープンソースがAIの未来を形作る</a:t>
            </a:r>
            <a:endParaRPr lang="en-US" sz="825" dirty="0"/>
          </a:p>
        </p:txBody>
      </p:sp>
      <p:sp>
        <p:nvSpPr>
          <p:cNvPr id="56" name="Text 51"/>
          <p:cNvSpPr/>
          <p:nvPr/>
        </p:nvSpPr>
        <p:spPr>
          <a:xfrm>
            <a:off x="381000" y="4743450"/>
            <a:ext cx="1993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Landscape AI機能調査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705</Words>
  <Application>Microsoft Office PowerPoint</Application>
  <PresentationFormat>画面に合わせる (16:9)</PresentationFormat>
  <Paragraphs>267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AI機能搭載ツール調査レポート</dc:title>
  <dc:subject>24ツール/組織のAI機能分析</dc:subject>
  <dc:creator>Linux Foundation Landscape調査</dc:creator>
  <cp:lastModifiedBy>Masashi Nara</cp:lastModifiedBy>
  <cp:revision>2</cp:revision>
  <dcterms:created xsi:type="dcterms:W3CDTF">2025-11-30T13:34:47Z</dcterms:created>
  <dcterms:modified xsi:type="dcterms:W3CDTF">2025-11-30T21:16:40Z</dcterms:modified>
</cp:coreProperties>
</file>